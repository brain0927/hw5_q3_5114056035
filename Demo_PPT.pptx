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Montserra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8YybxISTvpAMLwhgxjVTqMj07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388652-B627-45A9-84E4-4845546196B7}">
  <a:tblStyle styleId="{CF388652-B627-45A9-84E4-4845546196B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6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6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  <a:tblStyle styleId="{0DC52AE9-90D0-4135-B1DA-89151393DDE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000" b="0" i="0" u="none" strike="noStrike" kern="1200" cap="all" spc="120" normalizeH="0" baseline="0" smtId="4294967295">
                <a:solidFill>
                  <a:schemeClr val="tx1">
                    <a:lumMod val="75000"/>
                    <a:lumOff val="25000"/>
                  </a:schemeClr>
                </a:solidFill>
                <a:latin typeface="苹方 中等" panose="020B0400000000000000" pitchFamily="34" charset="-122"/>
                <a:ea typeface="苹方 中等" panose="020B0400000000000000" pitchFamily="34" charset="-122"/>
                <a:cs typeface="+mn-cs"/>
              </a:defRPr>
            </a:pPr>
            <a:r>
              <a:rPr lang="zh-TW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比較結果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 w="19050">
              <a:solidFill>
                <a:schemeClr val="accent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C1F3731-36FC-417E-8388-4D50D3990F76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20E-43BF-884D-E3210C68E9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965AB57-FCB1-467A-89D5-5DE0CDE30648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20E-43BF-884D-E3210C68E9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A0124BC-71C2-4F7A-A474-C4760451F861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20E-43BF-884D-E3210C68E9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7BE4400-76BB-4273-B302-9A279D482220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20E-43BF-884D-E3210C68E9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 smtId="4294967295">
                    <a:solidFill>
                      <a:schemeClr val="bg1">
                        <a:lumMod val="50000"/>
                      </a:schemeClr>
                    </a:solidFill>
                    <a:latin typeface="苹方 常规" panose="020B0300000000000000" pitchFamily="34" charset="-122"/>
                    <a:ea typeface="苹方 常规" panose="020B0300000000000000" pitchFamily="34" charset="-122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處理器</c:v>
                </c:pt>
                <c:pt idx="1">
                  <c:v>記憶體</c:v>
                </c:pt>
                <c:pt idx="2">
                  <c:v>顯卡</c:v>
                </c:pt>
                <c:pt idx="3">
                  <c:v>續行</c:v>
                </c:pt>
                <c:pt idx="4">
                  <c:v>評分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15</c:v>
                </c:pt>
                <c:pt idx="2">
                  <c:v>10</c:v>
                </c:pt>
                <c:pt idx="3">
                  <c:v>15</c:v>
                </c:pt>
                <c:pt idx="4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0E-43BF-884D-E3210C68E9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81DAE6A-DD7C-44F3-96D3-3D91A10885FC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20E-43BF-884D-E3210C68E9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CC5962E-9C0D-43B6-8094-66A5767027A1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020E-43BF-884D-E3210C68E9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2C3F22F-759C-41C1-B664-2042D1DB44ED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020E-43BF-884D-E3210C68E9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456E74D-6F9B-49B8-8C71-FD711A9DB8E9}" type="VALUE">
                      <a: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020E-43BF-884D-E3210C68E9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 smtId="4294967295">
                    <a:solidFill>
                      <a:schemeClr val="bg1">
                        <a:lumMod val="50000"/>
                      </a:schemeClr>
                    </a:solidFill>
                    <a:latin typeface="苹方 常规" panose="020B0300000000000000" pitchFamily="34" charset="-122"/>
                    <a:ea typeface="苹方 常规" panose="020B0300000000000000" pitchFamily="34" charset="-122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處理器</c:v>
                </c:pt>
                <c:pt idx="1">
                  <c:v>記憶體</c:v>
                </c:pt>
                <c:pt idx="2">
                  <c:v>顯卡</c:v>
                </c:pt>
                <c:pt idx="3">
                  <c:v>續行</c:v>
                </c:pt>
                <c:pt idx="4">
                  <c:v>評分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</c:v>
                </c:pt>
                <c:pt idx="1">
                  <c:v>22</c:v>
                </c:pt>
                <c:pt idx="2">
                  <c:v>18</c:v>
                </c:pt>
                <c:pt idx="3">
                  <c:v>17</c:v>
                </c:pt>
                <c:pt idx="4">
                  <c:v>24.05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20E-43BF-884D-E3210C68E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44"/>
        <c:overlap val="-90"/>
        <c:axId val="446135680"/>
        <c:axId val="445977728"/>
      </c:barChart>
      <c:catAx>
        <c:axId val="446135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cap="all" spc="120" normalizeH="0" baseline="0" smtId="4294967295">
                <a:solidFill>
                  <a:schemeClr val="bg1">
                    <a:lumMod val="50000"/>
                  </a:schemeClr>
                </a:solidFill>
                <a:latin typeface="苹方 常规" panose="020B0300000000000000" pitchFamily="34" charset="-122"/>
                <a:ea typeface="新細明體" panose="02020500000000000000" pitchFamily="18" charset="-120"/>
                <a:cs typeface="+mn-cs"/>
              </a:defRPr>
            </a:pPr>
            <a:endParaRPr lang="zh-TW"/>
          </a:p>
        </c:txPr>
        <c:crossAx val="445977728"/>
        <c:crosses val="autoZero"/>
        <c:auto val="0"/>
        <c:lblAlgn val="ctr"/>
        <c:lblOffset val="100"/>
        <c:noMultiLvlLbl val="0"/>
      </c:catAx>
      <c:valAx>
        <c:axId val="4459777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613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 smtId="4294967295">
              <a:solidFill>
                <a:schemeClr val="bg1">
                  <a:lumMod val="50000"/>
                </a:schemeClr>
              </a:solidFill>
              <a:latin typeface="苹方 常规" panose="020B0300000000000000" pitchFamily="34" charset="-122"/>
              <a:ea typeface="苹方 常规" panose="020B0300000000000000" pitchFamily="34" charset="-122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uri="{0b15fc19-7d7d-44ad-8c2d-2c3a37ce22c3}">
        <chartProps xmlns="https://web.wps.cn/et/2018/main" chartId="{90aa5caa-e8d3-4edd-b9fc-31823ba2f2b1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mtId="4294967295"/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定义版式">
  <p:cSld name="1_自定义版式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8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8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8"/>
          <p:cNvSpPr txBox="1"/>
          <p:nvPr>
            <p:ph idx="12" type="sldNum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7"/>
          <p:cNvSpPr txBox="1"/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7"/>
          <p:cNvSpPr txBox="1"/>
          <p:nvPr>
            <p:ph idx="1"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2" type="sldNum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advTm="3000" spd="slow" p14:dur="150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>
  <p:cSld name="节标题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 txBox="1"/>
          <p:nvPr/>
        </p:nvSpPr>
        <p:spPr>
          <a:xfrm>
            <a:off x="313929" y="361950"/>
            <a:ext cx="19111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overview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节标题">
  <p:cSld name="2_节标题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/>
          <p:nvPr/>
        </p:nvSpPr>
        <p:spPr>
          <a:xfrm>
            <a:off x="313929" y="361950"/>
            <a:ext cx="19912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summary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节标题">
  <p:cSld name="3_节标题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9"/>
          <p:cNvSpPr txBox="1"/>
          <p:nvPr/>
        </p:nvSpPr>
        <p:spPr>
          <a:xfrm>
            <a:off x="313929" y="361950"/>
            <a:ext cx="1398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Deficiency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节标题">
  <p:cSld name="4_节标题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0"/>
          <p:cNvSpPr txBox="1"/>
          <p:nvPr/>
        </p:nvSpPr>
        <p:spPr>
          <a:xfrm>
            <a:off x="313929" y="361950"/>
            <a:ext cx="13901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plan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节标题">
  <p:cSld name="1_节标题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1"/>
          <p:cNvSpPr txBox="1"/>
          <p:nvPr/>
        </p:nvSpPr>
        <p:spPr>
          <a:xfrm>
            <a:off x="313929" y="361950"/>
            <a:ext cx="1888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progress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>
  <p:cSld name="自定义版式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和内容">
  <p:cSld name="1_标题和内容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标题和内容">
  <p:cSld name="2_标题和内容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标题和内容">
  <p:cSld name="3_标题和内容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标题和内容">
  <p:cSld name="4_标题和内容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标题和内容">
  <p:cSld name="5_标题和内容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标题和内容">
  <p:cSld name="6_标题和内容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标题和内容">
  <p:cSld name="7_标题和内容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标题和内容">
  <p:cSld name="8_标题和内容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标题和内容">
  <p:cSld name="9_标题和内容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标题和内容">
  <p:cSld name="10_标题和内容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标题和内容">
  <p:cSld name="11_标题和内容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标题和内容">
  <p:cSld name="12_标题和内容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标题和内容">
  <p:cSld name="13_标题和内容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标题和内容">
  <p:cSld name="14_标题和内容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标题和内容">
  <p:cSld name="15_标题和内容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标题和内容">
  <p:cSld name="16_标题和内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标题和内容">
  <p:cSld name="17_标题和内容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标题和内容">
  <p:cSld name="18_标题和内容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标题和内容">
  <p:cSld name="19_标题和内容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标题和内容">
  <p:cSld name="20_标题和内容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标题和内容">
  <p:cSld name="21_标题和内容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标题和内容">
  <p:cSld name="22_标题和内容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标题和内容">
  <p:cSld name="23_标题和内容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标题和内容">
  <p:cSld name="24_标题和内容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标题和内容">
  <p:cSld name="25_标题和内容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标题和内容">
  <p:cSld name="26_标题和内容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标题和内容">
  <p:cSld name="27_标题和内容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标题和内容">
  <p:cSld name="28_标题和内容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标题和内容">
  <p:cSld name="29_标题和内容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标题和内容">
  <p:cSld name="30_标题和内容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标题和内容">
  <p:cSld name="31_标题和内容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标题和内容">
  <p:cSld name="32_标题和内容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标题和内容">
  <p:cSld name="33_标题和内容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标题和内容">
  <p:cSld name="34_标题和内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标题和内容">
  <p:cSld name="35_标题和内容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幻灯片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3000" spd="slow" p14:dur="1500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b2b09084f_0_30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g39b2b09084f_0_3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9b2b09084f_0_30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transition advTm="3000" spd="slow" p14:dur="1500">
    <p:random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4240625" y="1796825"/>
            <a:ext cx="4520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智慧CP值決策系統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4191000" y="2880225"/>
            <a:ext cx="47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報告者： [第九組 / 李承育、游宗勝、史福隆]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90999" y="285750"/>
            <a:ext cx="1518364" cy="587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-58652" y="-27977"/>
            <a:ext cx="4094531" cy="5171477"/>
            <a:chOff x="-58652" y="-27977"/>
            <a:chExt cx="4596214" cy="5171477"/>
          </a:xfrm>
        </p:grpSpPr>
        <p:sp>
          <p:nvSpPr>
            <p:cNvPr id="87" name="Google Shape;87;p1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11712" t="0"/>
          <a:stretch/>
        </p:blipFill>
        <p:spPr>
          <a:xfrm flipH="1">
            <a:off x="6030175" y="3218936"/>
            <a:ext cx="3113814" cy="192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-691383" y="977133"/>
            <a:ext cx="3924215" cy="299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-58652" y="-27977"/>
            <a:ext cx="4094531" cy="5171477"/>
            <a:chOff x="-58652" y="-27977"/>
            <a:chExt cx="4596214" cy="5171477"/>
          </a:xfrm>
        </p:grpSpPr>
        <p:sp>
          <p:nvSpPr>
            <p:cNvPr id="97" name="Google Shape;97;p2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201200" y="1657350"/>
            <a:ext cx="36633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4876798" y="1222265"/>
            <a:ext cx="3253387" cy="400110"/>
            <a:chOff x="3527609" y="1954206"/>
            <a:chExt cx="2384445" cy="400109"/>
          </a:xfrm>
        </p:grpSpPr>
        <p:sp>
          <p:nvSpPr>
            <p:cNvPr id="101" name="Google Shape;101;p2"/>
            <p:cNvSpPr/>
            <p:nvPr/>
          </p:nvSpPr>
          <p:spPr>
            <a:xfrm>
              <a:off x="3995937" y="1954206"/>
              <a:ext cx="1916117" cy="385318"/>
            </a:xfrm>
            <a:prstGeom prst="roundRect">
              <a:avLst>
                <a:gd fmla="val 0" name="adj"/>
              </a:avLst>
            </a:pr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344520" y="1958067"/>
              <a:ext cx="1262749" cy="369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75" lIns="121950" spcFirstLastPara="1" rIns="121950" wrap="square" tIns="609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F3F3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  <a:endParaRPr b="1" i="0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3527609" y="1954206"/>
              <a:ext cx="474755" cy="400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4881391" y="1899704"/>
            <a:ext cx="3249215" cy="627974"/>
            <a:chOff x="3527609" y="1954206"/>
            <a:chExt cx="2384447" cy="627974"/>
          </a:xfrm>
        </p:grpSpPr>
        <p:sp>
          <p:nvSpPr>
            <p:cNvPr id="106" name="Google Shape;106;p2"/>
            <p:cNvSpPr/>
            <p:nvPr/>
          </p:nvSpPr>
          <p:spPr>
            <a:xfrm>
              <a:off x="3995938" y="1954206"/>
              <a:ext cx="1916118" cy="385318"/>
            </a:xfrm>
            <a:prstGeom prst="roundRect">
              <a:avLst>
                <a:gd fmla="val 0" name="adj"/>
              </a:avLst>
            </a:pr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278958" y="1966586"/>
              <a:ext cx="1373655" cy="6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75" lIns="121950" spcFirstLastPara="1" rIns="121950" wrap="square" tIns="609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F3F3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Work progress</a:t>
              </a:r>
              <a:endParaRPr b="1" i="0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3527609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4896623" y="2637876"/>
            <a:ext cx="3264963" cy="391361"/>
            <a:chOff x="3527609" y="1954206"/>
            <a:chExt cx="2624850" cy="391361"/>
          </a:xfrm>
        </p:grpSpPr>
        <p:sp>
          <p:nvSpPr>
            <p:cNvPr id="111" name="Google Shape;111;p2"/>
            <p:cNvSpPr/>
            <p:nvPr/>
          </p:nvSpPr>
          <p:spPr>
            <a:xfrm>
              <a:off x="3995936" y="1954206"/>
              <a:ext cx="2156523" cy="385318"/>
            </a:xfrm>
            <a:prstGeom prst="roundRect">
              <a:avLst>
                <a:gd fmla="val 0" name="adj"/>
              </a:avLst>
            </a:pr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4232929" y="1976195"/>
              <a:ext cx="1744560" cy="369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75" lIns="121950" spcFirstLastPara="1" rIns="121950" wrap="square" tIns="609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F3F3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Proposed Design</a:t>
              </a:r>
              <a:endParaRPr b="1" i="0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3527609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4876798" y="3327400"/>
            <a:ext cx="3478092" cy="385318"/>
            <a:chOff x="3527609" y="1954206"/>
            <a:chExt cx="2529626" cy="385318"/>
          </a:xfrm>
        </p:grpSpPr>
        <p:sp>
          <p:nvSpPr>
            <p:cNvPr id="116" name="Google Shape;116;p2"/>
            <p:cNvSpPr/>
            <p:nvPr/>
          </p:nvSpPr>
          <p:spPr>
            <a:xfrm>
              <a:off x="3995937" y="1954206"/>
              <a:ext cx="1920708" cy="385318"/>
            </a:xfrm>
            <a:prstGeom prst="roundRect">
              <a:avLst>
                <a:gd fmla="val 0" name="adj"/>
              </a:avLst>
            </a:pr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4023559" y="1958067"/>
              <a:ext cx="2033676" cy="369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75" lIns="121950" spcFirstLastPara="1" rIns="121950" wrap="square" tIns="609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F3F3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Detail Implementation</a:t>
              </a:r>
              <a:endParaRPr b="1" i="0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3527609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4876800" y="4003517"/>
            <a:ext cx="3304376" cy="385318"/>
            <a:chOff x="3527609" y="1954206"/>
            <a:chExt cx="2389036" cy="385318"/>
          </a:xfrm>
        </p:grpSpPr>
        <p:sp>
          <p:nvSpPr>
            <p:cNvPr id="121" name="Google Shape;121;p2"/>
            <p:cNvSpPr/>
            <p:nvPr/>
          </p:nvSpPr>
          <p:spPr>
            <a:xfrm>
              <a:off x="3995937" y="1954206"/>
              <a:ext cx="1920708" cy="385318"/>
            </a:xfrm>
            <a:prstGeom prst="roundRect">
              <a:avLst>
                <a:gd fmla="val 0" name="adj"/>
              </a:avLst>
            </a:pr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476456" y="1954206"/>
              <a:ext cx="1109943" cy="369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75" lIns="121950" spcFirstLastPara="1" rIns="121950" wrap="square" tIns="609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F3F3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</a:t>
              </a:r>
              <a:endParaRPr b="1" i="0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3527609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242791" y="263427"/>
            <a:ext cx="29988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構想說明</a:t>
            </a: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85584" y="1684380"/>
            <a:ext cx="3232016" cy="0"/>
          </a:xfrm>
          <a:custGeom>
            <a:rect b="b" l="l" r="r" t="t"/>
            <a:pathLst>
              <a:path extrusionOk="0" h="120000" w="4309354">
                <a:moveTo>
                  <a:pt x="4309354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dash"/>
            <a:miter lim="800000"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843950" y="3798429"/>
            <a:ext cx="2801566" cy="0"/>
          </a:xfrm>
          <a:custGeom>
            <a:rect b="b" l="l" r="r" t="t"/>
            <a:pathLst>
              <a:path extrusionOk="0" h="120000" w="3735421">
                <a:moveTo>
                  <a:pt x="3735421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dash"/>
            <a:miter lim="800000"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222304" y="3462109"/>
            <a:ext cx="2377024" cy="34289"/>
          </a:xfrm>
          <a:custGeom>
            <a:rect b="b" l="l" r="r" t="t"/>
            <a:pathLst>
              <a:path extrusionOk="0" h="120000" w="3735421">
                <a:moveTo>
                  <a:pt x="3735421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dash"/>
            <a:miter lim="800000"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4" name="Google Shape;134;p3"/>
          <p:cNvGrpSpPr/>
          <p:nvPr/>
        </p:nvGrpSpPr>
        <p:grpSpPr>
          <a:xfrm>
            <a:off x="3095117" y="1312297"/>
            <a:ext cx="1469663" cy="1801998"/>
            <a:chOff x="4108343" y="1595336"/>
            <a:chExt cx="1959551" cy="2402664"/>
          </a:xfrm>
        </p:grpSpPr>
        <p:sp>
          <p:nvSpPr>
            <p:cNvPr id="135" name="Google Shape;135;p3"/>
            <p:cNvSpPr/>
            <p:nvPr/>
          </p:nvSpPr>
          <p:spPr>
            <a:xfrm>
              <a:off x="4715750" y="1595336"/>
              <a:ext cx="1352144" cy="2140085"/>
            </a:xfrm>
            <a:custGeom>
              <a:rect b="b" l="l" r="r" t="t"/>
              <a:pathLst>
                <a:path extrusionOk="0" h="2140085" w="1352144">
                  <a:moveTo>
                    <a:pt x="389106" y="2140085"/>
                  </a:moveTo>
                  <a:lnTo>
                    <a:pt x="0" y="1459149"/>
                  </a:lnTo>
                  <a:lnTo>
                    <a:pt x="622570" y="379379"/>
                  </a:lnTo>
                  <a:lnTo>
                    <a:pt x="486383" y="321013"/>
                  </a:lnTo>
                  <a:lnTo>
                    <a:pt x="1245140" y="0"/>
                  </a:lnTo>
                  <a:lnTo>
                    <a:pt x="1352144" y="817123"/>
                  </a:lnTo>
                  <a:lnTo>
                    <a:pt x="1215957" y="739302"/>
                  </a:lnTo>
                  <a:lnTo>
                    <a:pt x="389106" y="21400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 rot="-1800000">
              <a:off x="4202578" y="3201052"/>
              <a:ext cx="890516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A3D5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1" i="0" sz="2400" u="none" cap="none" strike="noStrike">
                <a:solidFill>
                  <a:srgbClr val="2A3D5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7" name="Google Shape;137;p3"/>
            <p:cNvPicPr preferRelativeResize="0"/>
            <p:nvPr/>
          </p:nvPicPr>
          <p:blipFill rotWithShape="1">
            <a:blip r:embed="rId3">
              <a:alphaModFix/>
            </a:blip>
            <a:srcRect b="0" l="0" r="0" t="76775"/>
            <a:stretch/>
          </p:blipFill>
          <p:spPr>
            <a:xfrm flipH="1" rot="-7205029">
              <a:off x="4141897" y="3180995"/>
              <a:ext cx="1551008" cy="1459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3"/>
          <p:cNvGrpSpPr/>
          <p:nvPr/>
        </p:nvGrpSpPr>
        <p:grpSpPr>
          <a:xfrm>
            <a:off x="4993280" y="2002804"/>
            <a:ext cx="1402733" cy="1775454"/>
            <a:chOff x="6639228" y="2516013"/>
            <a:chExt cx="1870310" cy="2367272"/>
          </a:xfrm>
        </p:grpSpPr>
        <p:sp>
          <p:nvSpPr>
            <p:cNvPr id="139" name="Google Shape;139;p3"/>
            <p:cNvSpPr/>
            <p:nvPr/>
          </p:nvSpPr>
          <p:spPr>
            <a:xfrm>
              <a:off x="6933657" y="3073940"/>
              <a:ext cx="1575881" cy="1809345"/>
            </a:xfrm>
            <a:custGeom>
              <a:rect b="b" l="l" r="r" t="t"/>
              <a:pathLst>
                <a:path extrusionOk="0" h="1809345" w="1575881">
                  <a:moveTo>
                    <a:pt x="0" y="0"/>
                  </a:moveTo>
                  <a:lnTo>
                    <a:pt x="836579" y="0"/>
                  </a:lnTo>
                  <a:lnTo>
                    <a:pt x="1439694" y="1060315"/>
                  </a:lnTo>
                  <a:lnTo>
                    <a:pt x="1575881" y="992221"/>
                  </a:lnTo>
                  <a:lnTo>
                    <a:pt x="1449421" y="1809345"/>
                  </a:lnTo>
                  <a:lnTo>
                    <a:pt x="710119" y="1498060"/>
                  </a:lnTo>
                  <a:lnTo>
                    <a:pt x="826851" y="1429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6963731" y="2516013"/>
              <a:ext cx="890516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A3D5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i="0" sz="2400" u="none" cap="none" strike="noStrike">
                <a:solidFill>
                  <a:srgbClr val="2A3D5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1" name="Google Shape;141;p3"/>
            <p:cNvPicPr preferRelativeResize="0"/>
            <p:nvPr/>
          </p:nvPicPr>
          <p:blipFill rotWithShape="1">
            <a:blip r:embed="rId3">
              <a:alphaModFix/>
            </a:blip>
            <a:srcRect b="0" l="0" r="0" t="76775"/>
            <a:stretch/>
          </p:blipFill>
          <p:spPr>
            <a:xfrm flipH="1">
              <a:off x="6639228" y="3073330"/>
              <a:ext cx="1551008" cy="1459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3"/>
          <p:cNvGrpSpPr/>
          <p:nvPr/>
        </p:nvGrpSpPr>
        <p:grpSpPr>
          <a:xfrm>
            <a:off x="3204124" y="3620972"/>
            <a:ext cx="2192003" cy="1072492"/>
            <a:chOff x="4253686" y="4646675"/>
            <a:chExt cx="2922671" cy="1429989"/>
          </a:xfrm>
        </p:grpSpPr>
        <p:sp>
          <p:nvSpPr>
            <p:cNvPr id="143" name="Google Shape;143;p3"/>
            <p:cNvSpPr/>
            <p:nvPr/>
          </p:nvSpPr>
          <p:spPr>
            <a:xfrm>
              <a:off x="4253686" y="4737368"/>
              <a:ext cx="2276272" cy="1011677"/>
            </a:xfrm>
            <a:custGeom>
              <a:rect b="b" l="l" r="r" t="t"/>
              <a:pathLst>
                <a:path extrusionOk="0" h="1011677" w="2276272">
                  <a:moveTo>
                    <a:pt x="2276272" y="175098"/>
                  </a:moveTo>
                  <a:lnTo>
                    <a:pt x="642025" y="175098"/>
                  </a:lnTo>
                  <a:lnTo>
                    <a:pt x="642025" y="0"/>
                  </a:lnTo>
                  <a:lnTo>
                    <a:pt x="0" y="505838"/>
                  </a:lnTo>
                  <a:lnTo>
                    <a:pt x="651753" y="1011677"/>
                  </a:lnTo>
                  <a:lnTo>
                    <a:pt x="651753" y="865762"/>
                  </a:lnTo>
                  <a:lnTo>
                    <a:pt x="1916349" y="865762"/>
                  </a:lnTo>
                  <a:lnTo>
                    <a:pt x="2276272" y="175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 rot="1561817">
              <a:off x="6195940" y="5095529"/>
              <a:ext cx="890516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A3D5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i="0" sz="2400" u="none" cap="none" strike="noStrike">
                <a:solidFill>
                  <a:srgbClr val="2A3D5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5" name="Google Shape;145;p3"/>
            <p:cNvPicPr preferRelativeResize="0"/>
            <p:nvPr/>
          </p:nvPicPr>
          <p:blipFill rotWithShape="1">
            <a:blip r:embed="rId3">
              <a:alphaModFix/>
            </a:blip>
            <a:srcRect b="0" l="0" r="0" t="76775"/>
            <a:stretch/>
          </p:blipFill>
          <p:spPr>
            <a:xfrm flipH="1" rot="7125017">
              <a:off x="5443082" y="5288714"/>
              <a:ext cx="1551008" cy="1459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3"/>
          <p:cNvGrpSpPr/>
          <p:nvPr/>
        </p:nvGrpSpPr>
        <p:grpSpPr>
          <a:xfrm>
            <a:off x="3938323" y="2406658"/>
            <a:ext cx="1472573" cy="1269460"/>
            <a:chOff x="5232617" y="3054484"/>
            <a:chExt cx="1963431" cy="1692613"/>
          </a:xfrm>
        </p:grpSpPr>
        <p:sp>
          <p:nvSpPr>
            <p:cNvPr id="147" name="Google Shape;147;p3"/>
            <p:cNvSpPr/>
            <p:nvPr/>
          </p:nvSpPr>
          <p:spPr>
            <a:xfrm>
              <a:off x="5232617" y="3054484"/>
              <a:ext cx="1963431" cy="1692613"/>
            </a:xfrm>
            <a:prstGeom prst="hexagon">
              <a:avLst>
                <a:gd fmla="val 29790" name="adj"/>
                <a:gd fmla="val 115470" name="vf"/>
              </a:avLst>
            </a:prstGeom>
            <a:noFill/>
            <a:ln cap="flat" cmpd="sng" w="15875">
              <a:solidFill>
                <a:srgbClr val="2A3D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6089374" y="3483292"/>
              <a:ext cx="246307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A3D5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9" name="Google Shape;149;p3"/>
          <p:cNvSpPr txBox="1"/>
          <p:nvPr/>
        </p:nvSpPr>
        <p:spPr>
          <a:xfrm>
            <a:off x="571669" y="1922498"/>
            <a:ext cx="2341113" cy="761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1.輸入產品連接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爬取論壇使用者正反面評價做成標籤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規格等資訊以匯入連接/資料為主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66522" y="3880218"/>
            <a:ext cx="1396536" cy="461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3.輸出推薦</a:t>
            </a:r>
            <a:endParaRPr b="0" i="0" sz="12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符合使用者最佳選擇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614875" y="2402906"/>
            <a:ext cx="1762021" cy="807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2.列出產品特徵標籤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可調手動調整權重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或學習使用者偏好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5599" y="2492235"/>
            <a:ext cx="807957" cy="98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4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159" name="Google Shape;159;p4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1" name="Google Shape;161;p4"/>
          <p:cNvSpPr txBox="1"/>
          <p:nvPr/>
        </p:nvSpPr>
        <p:spPr>
          <a:xfrm>
            <a:off x="990600" y="2175975"/>
            <a:ext cx="10629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3581400" y="2114550"/>
            <a:ext cx="47244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1" i="0" sz="44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/>
        </p:nvSpPr>
        <p:spPr>
          <a:xfrm>
            <a:off x="304800" y="438150"/>
            <a:ext cx="83820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Introduction動機與引題 </a:t>
            </a:r>
            <a:endParaRPr b="1" i="0" sz="32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幫我整理以下內容 生成圖片隨著電子商務的快速成長，消費者面臨資訊爆炸。&#10;即使有比價網站，也難以衡量商品的『真實性價比（CP值）』。&#10;因此，我們提出AI CP值比較器，協助使用者快速分析最划算的選擇。&#10;" id="168" name="Google Shape;1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375" y="1466350"/>
            <a:ext cx="3945075" cy="302777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/>
          <p:nvPr/>
        </p:nvSpPr>
        <p:spPr>
          <a:xfrm>
            <a:off x="6857688" y="4282200"/>
            <a:ext cx="2698842" cy="34200"/>
          </a:xfrm>
          <a:custGeom>
            <a:rect b="b" l="l" r="r" t="t"/>
            <a:pathLst>
              <a:path extrusionOk="0" h="120000" w="3735421">
                <a:moveTo>
                  <a:pt x="3735421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dash"/>
            <a:miter lim="800000"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75669" y="1367175"/>
            <a:ext cx="2377024" cy="34289"/>
          </a:xfrm>
          <a:custGeom>
            <a:rect b="b" l="l" r="r" t="t"/>
            <a:pathLst>
              <a:path extrusionOk="0" h="120000" w="3735421">
                <a:moveTo>
                  <a:pt x="3735421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dash"/>
            <a:miter lim="800000"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1" name="Google Shape;171;p5"/>
          <p:cNvGrpSpPr/>
          <p:nvPr/>
        </p:nvGrpSpPr>
        <p:grpSpPr>
          <a:xfrm>
            <a:off x="4424450" y="1967825"/>
            <a:ext cx="4426350" cy="2347513"/>
            <a:chOff x="124388" y="1147"/>
            <a:chExt cx="3914699" cy="2347513"/>
          </a:xfrm>
        </p:grpSpPr>
        <p:sp>
          <p:nvSpPr>
            <p:cNvPr id="172" name="Google Shape;172;p5"/>
            <p:cNvSpPr/>
            <p:nvPr/>
          </p:nvSpPr>
          <p:spPr>
            <a:xfrm>
              <a:off x="124388" y="1147"/>
              <a:ext cx="3914699" cy="75726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161354" y="38113"/>
              <a:ext cx="3840900" cy="68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隨著電子商務的快速成長，消費者面臨資訊爆炸。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24388" y="796272"/>
              <a:ext cx="3914699" cy="75726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161354" y="833238"/>
              <a:ext cx="3840900" cy="68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即使有比價網站，也難以衡量商品的『真實性價比（CP值）』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24388" y="1591398"/>
              <a:ext cx="3914699" cy="75726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161354" y="1628364"/>
              <a:ext cx="3840900" cy="68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因此，我們提出AI CP值比較器，協助使用者快速分析最划算的選擇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82" name="Google Shape;182;p91"/>
          <p:cNvGrpSpPr/>
          <p:nvPr/>
        </p:nvGrpSpPr>
        <p:grpSpPr>
          <a:xfrm>
            <a:off x="4414766" y="1987964"/>
            <a:ext cx="4187303" cy="2273699"/>
            <a:chOff x="5886356" y="2650618"/>
            <a:chExt cx="5583072" cy="3031599"/>
          </a:xfrm>
        </p:grpSpPr>
        <p:sp>
          <p:nvSpPr>
            <p:cNvPr descr="e7d195523061f1c074694c8bbf98be7b1e4b015d796375963FD28840057458461C7CA0DAD340D15583DEDFC2E3241C4F392EF3A8B4D067B40CF4F149DD7E51F346B0CAB1BCCF6DB2480C67273C6C9E4C189104F717183E94087134205FA50CFF5631A9B2F1EA4298D25FAC7AC4DB9234F95EB2B78EB4FB73D2644FC933C824692AC31DF40D3E73DF" id="183" name="Google Shape;183;p91"/>
            <p:cNvSpPr txBox="1"/>
            <p:nvPr/>
          </p:nvSpPr>
          <p:spPr>
            <a:xfrm>
              <a:off x="6080772" y="2650618"/>
              <a:ext cx="5388656" cy="3031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本研究聚焦於人工智慧在產品分析領域的應用</a:t>
              </a:r>
              <a:endParaRPr b="0" i="0" sz="135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透過自然語言理解與特徵加權比較，AI可自動判斷</a:t>
              </a:r>
              <a:endParaRPr b="0" i="0" sz="135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每元可獲得的價值</a:t>
              </a:r>
              <a:endParaRPr b="0" i="0" sz="135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研究目標：讓AI取代人工，完成多品項CP值分析，</a:t>
              </a:r>
              <a:endParaRPr b="0" i="0" sz="135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並給予使用者推薦。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4" name="Google Shape;184;p91"/>
            <p:cNvSpPr/>
            <p:nvPr/>
          </p:nvSpPr>
          <p:spPr>
            <a:xfrm>
              <a:off x="5886356" y="2890173"/>
              <a:ext cx="88533" cy="88533"/>
            </a:xfrm>
            <a:prstGeom prst="ellipse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91"/>
            <p:cNvSpPr/>
            <p:nvPr/>
          </p:nvSpPr>
          <p:spPr>
            <a:xfrm>
              <a:off x="5886356" y="3300276"/>
              <a:ext cx="88533" cy="88533"/>
            </a:xfrm>
            <a:prstGeom prst="ellipse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1"/>
            <p:cNvSpPr/>
            <p:nvPr/>
          </p:nvSpPr>
          <p:spPr>
            <a:xfrm>
              <a:off x="5886356" y="4129480"/>
              <a:ext cx="88533" cy="88533"/>
            </a:xfrm>
            <a:prstGeom prst="ellipse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87" name="Google Shape;187;p91"/>
          <p:cNvGrpSpPr/>
          <p:nvPr/>
        </p:nvGrpSpPr>
        <p:grpSpPr>
          <a:xfrm>
            <a:off x="368301" y="2472085"/>
            <a:ext cx="3860800" cy="1531590"/>
            <a:chOff x="491067" y="3296113"/>
            <a:chExt cx="5147733" cy="2042120"/>
          </a:xfrm>
        </p:grpSpPr>
        <p:grpSp>
          <p:nvGrpSpPr>
            <p:cNvPr id="188" name="Google Shape;188;p91"/>
            <p:cNvGrpSpPr/>
            <p:nvPr/>
          </p:nvGrpSpPr>
          <p:grpSpPr>
            <a:xfrm>
              <a:off x="672429" y="3296113"/>
              <a:ext cx="4873235" cy="2029422"/>
              <a:chOff x="3543695" y="5275800"/>
              <a:chExt cx="3013885" cy="1255110"/>
            </a:xfrm>
          </p:grpSpPr>
          <p:sp>
            <p:nvSpPr>
              <p:cNvPr id="189" name="Google Shape;189;p91"/>
              <p:cNvSpPr/>
              <p:nvPr/>
            </p:nvSpPr>
            <p:spPr>
              <a:xfrm>
                <a:off x="4204057" y="5275800"/>
                <a:ext cx="1614868" cy="1255109"/>
              </a:xfrm>
              <a:custGeom>
                <a:rect b="b" l="l" r="r" t="t"/>
                <a:pathLst>
                  <a:path extrusionOk="0" h="1255109" w="1614868">
                    <a:moveTo>
                      <a:pt x="1614868" y="807434"/>
                    </a:moveTo>
                    <a:cubicBezTo>
                      <a:pt x="1614868" y="973074"/>
                      <a:pt x="1565053" y="1126998"/>
                      <a:pt x="1479518" y="1255109"/>
                    </a:cubicBezTo>
                    <a:lnTo>
                      <a:pt x="135350" y="1255109"/>
                    </a:lnTo>
                    <a:cubicBezTo>
                      <a:pt x="57817" y="1138904"/>
                      <a:pt x="9620" y="1001554"/>
                      <a:pt x="1333" y="853535"/>
                    </a:cubicBezTo>
                    <a:cubicBezTo>
                      <a:pt x="476" y="838295"/>
                      <a:pt x="0" y="822960"/>
                      <a:pt x="0" y="807434"/>
                    </a:cubicBezTo>
                    <a:cubicBezTo>
                      <a:pt x="0" y="361569"/>
                      <a:pt x="361474" y="0"/>
                      <a:pt x="807434" y="0"/>
                    </a:cubicBezTo>
                    <a:cubicBezTo>
                      <a:pt x="897541" y="0"/>
                      <a:pt x="984123" y="14764"/>
                      <a:pt x="1064990" y="42005"/>
                    </a:cubicBezTo>
                    <a:cubicBezTo>
                      <a:pt x="1384649" y="149447"/>
                      <a:pt x="1614868" y="451580"/>
                      <a:pt x="1614868" y="8074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91"/>
              <p:cNvSpPr/>
              <p:nvPr/>
            </p:nvSpPr>
            <p:spPr>
              <a:xfrm>
                <a:off x="4958809" y="5712618"/>
                <a:ext cx="1598771" cy="818292"/>
              </a:xfrm>
              <a:custGeom>
                <a:rect b="b" l="l" r="r" t="t"/>
                <a:pathLst>
                  <a:path extrusionOk="0" h="818292" w="1598771">
                    <a:moveTo>
                      <a:pt x="1598771" y="799338"/>
                    </a:moveTo>
                    <a:cubicBezTo>
                      <a:pt x="1598771" y="805624"/>
                      <a:pt x="1598676" y="812006"/>
                      <a:pt x="1598486" y="818293"/>
                    </a:cubicBezTo>
                    <a:lnTo>
                      <a:pt x="286" y="818293"/>
                    </a:lnTo>
                    <a:cubicBezTo>
                      <a:pt x="190" y="812006"/>
                      <a:pt x="0" y="805624"/>
                      <a:pt x="0" y="799338"/>
                    </a:cubicBezTo>
                    <a:cubicBezTo>
                      <a:pt x="0" y="427101"/>
                      <a:pt x="254508" y="114300"/>
                      <a:pt x="599027" y="25241"/>
                    </a:cubicBezTo>
                    <a:cubicBezTo>
                      <a:pt x="663035" y="8858"/>
                      <a:pt x="730091" y="0"/>
                      <a:pt x="799338" y="0"/>
                    </a:cubicBezTo>
                    <a:cubicBezTo>
                      <a:pt x="839248" y="0"/>
                      <a:pt x="878491" y="2858"/>
                      <a:pt x="916781" y="8573"/>
                    </a:cubicBezTo>
                    <a:cubicBezTo>
                      <a:pt x="1302639" y="65342"/>
                      <a:pt x="1598771" y="397764"/>
                      <a:pt x="1598771" y="7993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91"/>
              <p:cNvSpPr/>
              <p:nvPr/>
            </p:nvSpPr>
            <p:spPr>
              <a:xfrm>
                <a:off x="3543695" y="6087617"/>
                <a:ext cx="865822" cy="443293"/>
              </a:xfrm>
              <a:custGeom>
                <a:rect b="b" l="l" r="r" t="t"/>
                <a:pathLst>
                  <a:path extrusionOk="0" h="443293" w="865822">
                    <a:moveTo>
                      <a:pt x="865823" y="433006"/>
                    </a:moveTo>
                    <a:cubicBezTo>
                      <a:pt x="865823" y="436435"/>
                      <a:pt x="865727" y="439864"/>
                      <a:pt x="865727" y="443293"/>
                    </a:cubicBezTo>
                    <a:lnTo>
                      <a:pt x="95" y="443293"/>
                    </a:lnTo>
                    <a:cubicBezTo>
                      <a:pt x="95" y="439864"/>
                      <a:pt x="0" y="436435"/>
                      <a:pt x="0" y="433006"/>
                    </a:cubicBezTo>
                    <a:cubicBezTo>
                      <a:pt x="0" y="231457"/>
                      <a:pt x="137827" y="62008"/>
                      <a:pt x="324422" y="13716"/>
                    </a:cubicBezTo>
                    <a:cubicBezTo>
                      <a:pt x="359093" y="4858"/>
                      <a:pt x="395383" y="0"/>
                      <a:pt x="432911" y="0"/>
                    </a:cubicBezTo>
                    <a:cubicBezTo>
                      <a:pt x="454533" y="0"/>
                      <a:pt x="475774" y="1524"/>
                      <a:pt x="496538" y="4667"/>
                    </a:cubicBezTo>
                    <a:cubicBezTo>
                      <a:pt x="705517" y="35528"/>
                      <a:pt x="865823" y="215551"/>
                      <a:pt x="865823" y="4330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92" name="Google Shape;192;p91"/>
            <p:cNvCxnSpPr/>
            <p:nvPr/>
          </p:nvCxnSpPr>
          <p:spPr>
            <a:xfrm>
              <a:off x="491067" y="5338233"/>
              <a:ext cx="3568064" cy="0"/>
            </a:xfrm>
            <a:prstGeom prst="straightConnector1">
              <a:avLst/>
            </a:pr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91"/>
            <p:cNvCxnSpPr/>
            <p:nvPr/>
          </p:nvCxnSpPr>
          <p:spPr>
            <a:xfrm>
              <a:off x="4146973" y="5338233"/>
              <a:ext cx="1491827" cy="0"/>
            </a:xfrm>
            <a:prstGeom prst="straightConnector1">
              <a:avLst/>
            </a:pr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94" name="Google Shape;194;p91"/>
          <p:cNvSpPr/>
          <p:nvPr/>
        </p:nvSpPr>
        <p:spPr>
          <a:xfrm>
            <a:off x="4359850" y="1145475"/>
            <a:ext cx="4456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Introduction研究興趣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36D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95" name="Google Shape;195;p91"/>
          <p:cNvSpPr/>
          <p:nvPr/>
        </p:nvSpPr>
        <p:spPr>
          <a:xfrm>
            <a:off x="3399799" y="2011892"/>
            <a:ext cx="66400" cy="664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96" name="Google Shape;196;p91"/>
          <p:cNvSpPr/>
          <p:nvPr/>
        </p:nvSpPr>
        <p:spPr>
          <a:xfrm>
            <a:off x="988804" y="3827152"/>
            <a:ext cx="66400" cy="664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97" name="Google Shape;197;p91"/>
          <p:cNvSpPr/>
          <p:nvPr/>
        </p:nvSpPr>
        <p:spPr>
          <a:xfrm>
            <a:off x="1195639" y="2286000"/>
            <a:ext cx="2457657" cy="2457657"/>
          </a:xfrm>
          <a:prstGeom prst="arc">
            <a:avLst>
              <a:gd fmla="val 11198693" name="adj1"/>
              <a:gd fmla="val 13197986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198" name="Google Shape;198;p91"/>
          <p:cNvGrpSpPr/>
          <p:nvPr/>
        </p:nvGrpSpPr>
        <p:grpSpPr>
          <a:xfrm>
            <a:off x="1389806" y="1556993"/>
            <a:ext cx="123825" cy="123825"/>
            <a:chOff x="2200208" y="2075990"/>
            <a:chExt cx="165100" cy="165100"/>
          </a:xfrm>
        </p:grpSpPr>
        <p:sp>
          <p:nvSpPr>
            <p:cNvPr id="199" name="Google Shape;199;p91"/>
            <p:cNvSpPr/>
            <p:nvPr/>
          </p:nvSpPr>
          <p:spPr>
            <a:xfrm>
              <a:off x="2200208" y="2075990"/>
              <a:ext cx="165100" cy="1651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91"/>
            <p:cNvSpPr/>
            <p:nvPr/>
          </p:nvSpPr>
          <p:spPr>
            <a:xfrm>
              <a:off x="2281205" y="2107741"/>
              <a:ext cx="49246" cy="49246"/>
            </a:xfrm>
            <a:custGeom>
              <a:rect b="b" l="l" r="r" t="t"/>
              <a:pathLst>
                <a:path extrusionOk="0" h="49246" w="49246">
                  <a:moveTo>
                    <a:pt x="0" y="0"/>
                  </a:moveTo>
                  <a:cubicBezTo>
                    <a:pt x="27198" y="0"/>
                    <a:pt x="49246" y="22048"/>
                    <a:pt x="49246" y="49246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201" name="Google Shape;201;p91"/>
          <p:cNvGrpSpPr/>
          <p:nvPr/>
        </p:nvGrpSpPr>
        <p:grpSpPr>
          <a:xfrm>
            <a:off x="1929179" y="1279117"/>
            <a:ext cx="1198740" cy="2723243"/>
            <a:chOff x="2525965" y="1705489"/>
            <a:chExt cx="1598320" cy="3630990"/>
          </a:xfrm>
        </p:grpSpPr>
        <p:sp>
          <p:nvSpPr>
            <p:cNvPr id="202" name="Google Shape;202;p91"/>
            <p:cNvSpPr/>
            <p:nvPr/>
          </p:nvSpPr>
          <p:spPr>
            <a:xfrm>
              <a:off x="3045818" y="5152432"/>
              <a:ext cx="345290" cy="184047"/>
            </a:xfrm>
            <a:custGeom>
              <a:rect b="b" l="l" r="r" t="t"/>
              <a:pathLst>
                <a:path extrusionOk="0" h="184047" w="345290">
                  <a:moveTo>
                    <a:pt x="0" y="1076"/>
                  </a:moveTo>
                  <a:lnTo>
                    <a:pt x="4305" y="154987"/>
                  </a:lnTo>
                  <a:cubicBezTo>
                    <a:pt x="4305" y="165750"/>
                    <a:pt x="12916" y="174361"/>
                    <a:pt x="23679" y="174361"/>
                  </a:cubicBezTo>
                  <a:lnTo>
                    <a:pt x="332577" y="184047"/>
                  </a:lnTo>
                  <a:cubicBezTo>
                    <a:pt x="342264" y="184047"/>
                    <a:pt x="348721" y="173284"/>
                    <a:pt x="343340" y="164674"/>
                  </a:cubicBezTo>
                  <a:cubicBezTo>
                    <a:pt x="331501" y="145301"/>
                    <a:pt x="300288" y="115164"/>
                    <a:pt x="215260" y="86104"/>
                  </a:cubicBezTo>
                  <a:cubicBezTo>
                    <a:pt x="160369" y="41976"/>
                    <a:pt x="123775" y="0"/>
                    <a:pt x="123775" y="0"/>
                  </a:cubicBezTo>
                  <a:lnTo>
                    <a:pt x="0" y="1076"/>
                  </a:lnTo>
                  <a:close/>
                </a:path>
              </a:pathLst>
            </a:custGeom>
            <a:solidFill>
              <a:srgbClr val="F2F2F2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91"/>
            <p:cNvSpPr/>
            <p:nvPr/>
          </p:nvSpPr>
          <p:spPr>
            <a:xfrm>
              <a:off x="2772658" y="5149275"/>
              <a:ext cx="341053" cy="187204"/>
            </a:xfrm>
            <a:custGeom>
              <a:rect b="b" l="l" r="r" t="t"/>
              <a:pathLst>
                <a:path extrusionOk="0" h="187204" w="341053">
                  <a:moveTo>
                    <a:pt x="19046" y="0"/>
                  </a:moveTo>
                  <a:cubicBezTo>
                    <a:pt x="20481" y="51304"/>
                    <a:pt x="-1367" y="106840"/>
                    <a:pt x="68" y="158144"/>
                  </a:cubicBezTo>
                  <a:cubicBezTo>
                    <a:pt x="68" y="168907"/>
                    <a:pt x="8679" y="177518"/>
                    <a:pt x="19442" y="177518"/>
                  </a:cubicBezTo>
                  <a:lnTo>
                    <a:pt x="328340" y="187204"/>
                  </a:lnTo>
                  <a:cubicBezTo>
                    <a:pt x="338027" y="187204"/>
                    <a:pt x="344484" y="176441"/>
                    <a:pt x="339103" y="167831"/>
                  </a:cubicBezTo>
                  <a:cubicBezTo>
                    <a:pt x="327264" y="148458"/>
                    <a:pt x="296051" y="118321"/>
                    <a:pt x="211023" y="89261"/>
                  </a:cubicBezTo>
                  <a:cubicBezTo>
                    <a:pt x="156132" y="45133"/>
                    <a:pt x="119538" y="3157"/>
                    <a:pt x="119538" y="3157"/>
                  </a:cubicBezTo>
                  <a:lnTo>
                    <a:pt x="19046" y="0"/>
                  </a:lnTo>
                  <a:close/>
                </a:path>
              </a:pathLst>
            </a:custGeom>
            <a:solidFill>
              <a:srgbClr val="F2F2F2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91"/>
            <p:cNvSpPr/>
            <p:nvPr/>
          </p:nvSpPr>
          <p:spPr>
            <a:xfrm>
              <a:off x="2735661" y="3458478"/>
              <a:ext cx="501738" cy="1700412"/>
            </a:xfrm>
            <a:custGeom>
              <a:rect b="b" l="l" r="r" t="t"/>
              <a:pathLst>
                <a:path extrusionOk="0" h="1700412" w="501737">
                  <a:moveTo>
                    <a:pt x="335764" y="373568"/>
                  </a:moveTo>
                  <a:lnTo>
                    <a:pt x="189611" y="1698260"/>
                  </a:lnTo>
                  <a:lnTo>
                    <a:pt x="36776" y="1700412"/>
                  </a:lnTo>
                  <a:cubicBezTo>
                    <a:pt x="36776" y="1700412"/>
                    <a:pt x="60455" y="381944"/>
                    <a:pt x="58302" y="373334"/>
                  </a:cubicBezTo>
                  <a:cubicBezTo>
                    <a:pt x="-34260" y="244178"/>
                    <a:pt x="6640" y="37528"/>
                    <a:pt x="24937" y="14926"/>
                  </a:cubicBezTo>
                  <a:cubicBezTo>
                    <a:pt x="31799" y="6450"/>
                    <a:pt x="144541" y="13706"/>
                    <a:pt x="144677" y="7037"/>
                  </a:cubicBezTo>
                  <a:lnTo>
                    <a:pt x="501738" y="0"/>
                  </a:lnTo>
                  <a:lnTo>
                    <a:pt x="454381" y="1698260"/>
                  </a:lnTo>
                  <a:lnTo>
                    <a:pt x="298317" y="1699337"/>
                  </a:lnTo>
                  <a:cubicBezTo>
                    <a:pt x="298317" y="1699337"/>
                    <a:pt x="284756" y="1308266"/>
                    <a:pt x="269545" y="984569"/>
                  </a:cubicBezTo>
                </a:path>
              </a:pathLst>
            </a:custGeom>
            <a:solidFill>
              <a:srgbClr val="D8D8D8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91"/>
            <p:cNvSpPr/>
            <p:nvPr/>
          </p:nvSpPr>
          <p:spPr>
            <a:xfrm>
              <a:off x="2730899" y="3456891"/>
              <a:ext cx="501738" cy="264683"/>
            </a:xfrm>
            <a:custGeom>
              <a:rect b="b" l="l" r="r" t="t"/>
              <a:pathLst>
                <a:path extrusionOk="0" h="264683" w="501737">
                  <a:moveTo>
                    <a:pt x="501738" y="0"/>
                  </a:moveTo>
                  <a:lnTo>
                    <a:pt x="496041" y="204310"/>
                  </a:lnTo>
                  <a:lnTo>
                    <a:pt x="451801" y="187383"/>
                  </a:lnTo>
                  <a:cubicBezTo>
                    <a:pt x="408036" y="176344"/>
                    <a:pt x="362721" y="170547"/>
                    <a:pt x="316308" y="170547"/>
                  </a:cubicBezTo>
                  <a:cubicBezTo>
                    <a:pt x="223482" y="170547"/>
                    <a:pt x="135050" y="193735"/>
                    <a:pt x="54616" y="235668"/>
                  </a:cubicBezTo>
                  <a:lnTo>
                    <a:pt x="11249" y="264683"/>
                  </a:lnTo>
                  <a:lnTo>
                    <a:pt x="2244" y="209133"/>
                  </a:lnTo>
                  <a:cubicBezTo>
                    <a:pt x="-6764" y="115072"/>
                    <a:pt x="13502" y="29052"/>
                    <a:pt x="24937" y="14926"/>
                  </a:cubicBezTo>
                  <a:cubicBezTo>
                    <a:pt x="31799" y="6450"/>
                    <a:pt x="144541" y="13706"/>
                    <a:pt x="144677" y="7037"/>
                  </a:cubicBezTo>
                  <a:close/>
                </a:path>
              </a:pathLst>
            </a:custGeom>
            <a:solidFill>
              <a:srgbClr val="7F7F7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91"/>
            <p:cNvSpPr/>
            <p:nvPr/>
          </p:nvSpPr>
          <p:spPr>
            <a:xfrm>
              <a:off x="2598309" y="3536222"/>
              <a:ext cx="122859" cy="325304"/>
            </a:xfrm>
            <a:custGeom>
              <a:rect b="b" l="l" r="r" t="t"/>
              <a:pathLst>
                <a:path extrusionOk="0" h="325304" w="122859">
                  <a:moveTo>
                    <a:pt x="106672" y="146495"/>
                  </a:moveTo>
                  <a:lnTo>
                    <a:pt x="94832" y="13033"/>
                  </a:lnTo>
                  <a:cubicBezTo>
                    <a:pt x="93756" y="5499"/>
                    <a:pt x="87298" y="-959"/>
                    <a:pt x="78688" y="118"/>
                  </a:cubicBezTo>
                  <a:lnTo>
                    <a:pt x="13033" y="6576"/>
                  </a:lnTo>
                  <a:cubicBezTo>
                    <a:pt x="5499" y="7652"/>
                    <a:pt x="-959" y="14110"/>
                    <a:pt x="118" y="22720"/>
                  </a:cubicBezTo>
                  <a:lnTo>
                    <a:pt x="11957" y="155105"/>
                  </a:lnTo>
                  <a:cubicBezTo>
                    <a:pt x="15186" y="193852"/>
                    <a:pt x="62543" y="270269"/>
                    <a:pt x="95909" y="318703"/>
                  </a:cubicBezTo>
                  <a:cubicBezTo>
                    <a:pt x="104519" y="331618"/>
                    <a:pt x="123892" y="324084"/>
                    <a:pt x="122816" y="309016"/>
                  </a:cubicBezTo>
                  <a:lnTo>
                    <a:pt x="106672" y="146495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91"/>
            <p:cNvSpPr/>
            <p:nvPr/>
          </p:nvSpPr>
          <p:spPr>
            <a:xfrm>
              <a:off x="2954333" y="2981534"/>
              <a:ext cx="1076" cy="94714"/>
            </a:xfrm>
            <a:custGeom>
              <a:rect b="b" l="l" r="r" t="t"/>
              <a:pathLst>
                <a:path extrusionOk="0" h="94714" w="1076">
                  <a:moveTo>
                    <a:pt x="0" y="94714"/>
                  </a:moveTo>
                  <a:lnTo>
                    <a:pt x="1076" y="0"/>
                  </a:lnTo>
                  <a:cubicBezTo>
                    <a:pt x="0" y="1076"/>
                    <a:pt x="0" y="94714"/>
                    <a:pt x="0" y="94714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91"/>
            <p:cNvSpPr/>
            <p:nvPr/>
          </p:nvSpPr>
          <p:spPr>
            <a:xfrm>
              <a:off x="3733100" y="2761006"/>
              <a:ext cx="391185" cy="171431"/>
            </a:xfrm>
            <a:custGeom>
              <a:rect b="b" l="l" r="r" t="t"/>
              <a:pathLst>
                <a:path extrusionOk="0" h="171431" w="391185">
                  <a:moveTo>
                    <a:pt x="234805" y="508"/>
                  </a:moveTo>
                  <a:cubicBezTo>
                    <a:pt x="277891" y="3384"/>
                    <a:pt x="337626" y="17914"/>
                    <a:pt x="380409" y="30023"/>
                  </a:cubicBezTo>
                  <a:cubicBezTo>
                    <a:pt x="395477" y="34328"/>
                    <a:pt x="394400" y="54777"/>
                    <a:pt x="379332" y="58006"/>
                  </a:cubicBezTo>
                  <a:lnTo>
                    <a:pt x="220040" y="93524"/>
                  </a:lnTo>
                  <a:lnTo>
                    <a:pt x="145320" y="110696"/>
                  </a:lnTo>
                  <a:lnTo>
                    <a:pt x="87655" y="154874"/>
                  </a:lnTo>
                  <a:lnTo>
                    <a:pt x="33840" y="171019"/>
                  </a:lnTo>
                  <a:cubicBezTo>
                    <a:pt x="25230" y="173171"/>
                    <a:pt x="17695" y="166713"/>
                    <a:pt x="15543" y="155950"/>
                  </a:cubicBezTo>
                  <a:lnTo>
                    <a:pt x="475" y="67694"/>
                  </a:lnTo>
                  <a:cubicBezTo>
                    <a:pt x="-1678" y="56931"/>
                    <a:pt x="3704" y="46168"/>
                    <a:pt x="12314" y="44015"/>
                  </a:cubicBezTo>
                  <a:lnTo>
                    <a:pt x="26306" y="39710"/>
                  </a:lnTo>
                  <a:lnTo>
                    <a:pt x="32738" y="40137"/>
                  </a:lnTo>
                  <a:lnTo>
                    <a:pt x="198514" y="2039"/>
                  </a:lnTo>
                  <a:cubicBezTo>
                    <a:pt x="207932" y="-114"/>
                    <a:pt x="220444" y="-450"/>
                    <a:pt x="234805" y="508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91"/>
            <p:cNvSpPr/>
            <p:nvPr/>
          </p:nvSpPr>
          <p:spPr>
            <a:xfrm>
              <a:off x="2525965" y="2385764"/>
              <a:ext cx="1304475" cy="1228635"/>
            </a:xfrm>
            <a:custGeom>
              <a:rect b="b" l="l" r="r" t="t"/>
              <a:pathLst>
                <a:path extrusionOk="0" h="1228635" w="1304475">
                  <a:moveTo>
                    <a:pt x="245006" y="578079"/>
                  </a:moveTo>
                  <a:lnTo>
                    <a:pt x="175436" y="716204"/>
                  </a:lnTo>
                  <a:lnTo>
                    <a:pt x="175436" y="1228635"/>
                  </a:lnTo>
                  <a:lnTo>
                    <a:pt x="48433" y="1228635"/>
                  </a:lnTo>
                  <a:lnTo>
                    <a:pt x="0" y="678645"/>
                  </a:lnTo>
                  <a:lnTo>
                    <a:pt x="145121" y="149787"/>
                  </a:lnTo>
                  <a:cubicBezTo>
                    <a:pt x="147812" y="137947"/>
                    <a:pt x="155076" y="101013"/>
                    <a:pt x="190028" y="95228"/>
                  </a:cubicBezTo>
                  <a:lnTo>
                    <a:pt x="553218" y="0"/>
                  </a:lnTo>
                  <a:lnTo>
                    <a:pt x="771423" y="99952"/>
                  </a:lnTo>
                  <a:cubicBezTo>
                    <a:pt x="821797" y="128767"/>
                    <a:pt x="860413" y="193644"/>
                    <a:pt x="866063" y="213018"/>
                  </a:cubicBezTo>
                  <a:lnTo>
                    <a:pt x="952672" y="477863"/>
                  </a:lnTo>
                  <a:lnTo>
                    <a:pt x="1265728" y="398807"/>
                  </a:lnTo>
                  <a:lnTo>
                    <a:pt x="1304475" y="535497"/>
                  </a:lnTo>
                  <a:lnTo>
                    <a:pt x="903015" y="671111"/>
                  </a:lnTo>
                  <a:cubicBezTo>
                    <a:pt x="876108" y="680798"/>
                    <a:pt x="845971" y="664653"/>
                    <a:pt x="838437" y="637746"/>
                  </a:cubicBezTo>
                  <a:lnTo>
                    <a:pt x="758388" y="508128"/>
                  </a:lnTo>
                  <a:cubicBezTo>
                    <a:pt x="747321" y="544626"/>
                    <a:pt x="714461" y="862356"/>
                    <a:pt x="711434" y="1018756"/>
                  </a:cubicBezTo>
                  <a:lnTo>
                    <a:pt x="711180" y="1018755"/>
                  </a:lnTo>
                  <a:lnTo>
                    <a:pt x="709686" y="1098402"/>
                  </a:lnTo>
                  <a:cubicBezTo>
                    <a:pt x="628791" y="1106824"/>
                    <a:pt x="594464" y="1125830"/>
                    <a:pt x="467002" y="1123669"/>
                  </a:cubicBezTo>
                  <a:cubicBezTo>
                    <a:pt x="339540" y="1121508"/>
                    <a:pt x="310655" y="1101084"/>
                    <a:pt x="232481" y="1089791"/>
                  </a:cubicBezTo>
                  <a:cubicBezTo>
                    <a:pt x="232840" y="1065395"/>
                    <a:pt x="233198" y="1040999"/>
                    <a:pt x="233557" y="1016603"/>
                  </a:cubicBezTo>
                  <a:cubicBezTo>
                    <a:pt x="240901" y="839384"/>
                    <a:pt x="247546" y="489604"/>
                    <a:pt x="247546" y="489604"/>
                  </a:cubicBezTo>
                </a:path>
              </a:pathLst>
            </a:custGeom>
            <a:solidFill>
              <a:srgbClr val="F2F2F2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91"/>
            <p:cNvSpPr/>
            <p:nvPr/>
          </p:nvSpPr>
          <p:spPr>
            <a:xfrm>
              <a:off x="3005027" y="2257238"/>
              <a:ext cx="148529" cy="296143"/>
            </a:xfrm>
            <a:custGeom>
              <a:rect b="b" l="l" r="r" t="t"/>
              <a:pathLst>
                <a:path extrusionOk="0" h="296143" w="148529">
                  <a:moveTo>
                    <a:pt x="0" y="0"/>
                  </a:moveTo>
                  <a:lnTo>
                    <a:pt x="148529" y="0"/>
                  </a:lnTo>
                  <a:lnTo>
                    <a:pt x="148529" y="161445"/>
                  </a:lnTo>
                  <a:lnTo>
                    <a:pt x="108652" y="296143"/>
                  </a:lnTo>
                  <a:lnTo>
                    <a:pt x="0" y="1528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1"/>
            <p:cNvSpPr/>
            <p:nvPr/>
          </p:nvSpPr>
          <p:spPr>
            <a:xfrm>
              <a:off x="2760035" y="3213977"/>
              <a:ext cx="479176" cy="290863"/>
            </a:xfrm>
            <a:custGeom>
              <a:rect b="b" l="l" r="r" t="t"/>
              <a:pathLst>
                <a:path extrusionOk="0" h="290863" w="479176">
                  <a:moveTo>
                    <a:pt x="8686" y="0"/>
                  </a:moveTo>
                  <a:lnTo>
                    <a:pt x="88653" y="64467"/>
                  </a:lnTo>
                  <a:cubicBezTo>
                    <a:pt x="199247" y="137472"/>
                    <a:pt x="332571" y="180100"/>
                    <a:pt x="476084" y="180100"/>
                  </a:cubicBezTo>
                  <a:lnTo>
                    <a:pt x="479176" y="179796"/>
                  </a:lnTo>
                  <a:lnTo>
                    <a:pt x="478953" y="185781"/>
                  </a:lnTo>
                  <a:lnTo>
                    <a:pt x="478699" y="185780"/>
                  </a:lnTo>
                  <a:lnTo>
                    <a:pt x="477205" y="265427"/>
                  </a:lnTo>
                  <a:cubicBezTo>
                    <a:pt x="396310" y="273849"/>
                    <a:pt x="361983" y="292855"/>
                    <a:pt x="234521" y="290694"/>
                  </a:cubicBezTo>
                  <a:cubicBezTo>
                    <a:pt x="107059" y="288533"/>
                    <a:pt x="78174" y="268109"/>
                    <a:pt x="0" y="256816"/>
                  </a:cubicBezTo>
                  <a:cubicBezTo>
                    <a:pt x="359" y="232420"/>
                    <a:pt x="717" y="208024"/>
                    <a:pt x="1076" y="183628"/>
                  </a:cubicBezTo>
                  <a:close/>
                </a:path>
              </a:pathLst>
            </a:custGeom>
            <a:solidFill>
              <a:srgbClr val="7F7F7F">
                <a:alpha val="431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91"/>
            <p:cNvSpPr/>
            <p:nvPr/>
          </p:nvSpPr>
          <p:spPr>
            <a:xfrm>
              <a:off x="3274483" y="2798235"/>
              <a:ext cx="141817" cy="260350"/>
            </a:xfrm>
            <a:custGeom>
              <a:rect b="b" l="l" r="r" t="t"/>
              <a:pathLst>
                <a:path extrusionOk="0" h="260350" w="141817">
                  <a:moveTo>
                    <a:pt x="0" y="99483"/>
                  </a:moveTo>
                  <a:lnTo>
                    <a:pt x="14817" y="0"/>
                  </a:lnTo>
                  <a:lnTo>
                    <a:pt x="141817" y="260350"/>
                  </a:lnTo>
                  <a:lnTo>
                    <a:pt x="95251" y="239182"/>
                  </a:lnTo>
                  <a:lnTo>
                    <a:pt x="0" y="99483"/>
                  </a:lnTo>
                  <a:close/>
                </a:path>
              </a:pathLst>
            </a:custGeom>
            <a:solidFill>
              <a:srgbClr val="7F7F7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91"/>
            <p:cNvSpPr/>
            <p:nvPr/>
          </p:nvSpPr>
          <p:spPr>
            <a:xfrm>
              <a:off x="2658533" y="2878667"/>
              <a:ext cx="120650" cy="736600"/>
            </a:xfrm>
            <a:custGeom>
              <a:rect b="b" l="l" r="r" t="t"/>
              <a:pathLst>
                <a:path extrusionOk="0" h="736600" w="120650">
                  <a:moveTo>
                    <a:pt x="107950" y="0"/>
                  </a:moveTo>
                  <a:lnTo>
                    <a:pt x="0" y="192616"/>
                  </a:lnTo>
                  <a:lnTo>
                    <a:pt x="40217" y="736600"/>
                  </a:lnTo>
                  <a:lnTo>
                    <a:pt x="40217" y="213783"/>
                  </a:lnTo>
                  <a:lnTo>
                    <a:pt x="120650" y="80433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7F7F7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91"/>
            <p:cNvSpPr/>
            <p:nvPr/>
          </p:nvSpPr>
          <p:spPr>
            <a:xfrm>
              <a:off x="3003550" y="3839633"/>
              <a:ext cx="74083" cy="1308100"/>
            </a:xfrm>
            <a:custGeom>
              <a:rect b="b" l="l" r="r" t="t"/>
              <a:pathLst>
                <a:path extrusionOk="0" h="1308100" w="74083">
                  <a:moveTo>
                    <a:pt x="74083" y="0"/>
                  </a:moveTo>
                  <a:lnTo>
                    <a:pt x="44450" y="1308100"/>
                  </a:lnTo>
                  <a:lnTo>
                    <a:pt x="0" y="596900"/>
                  </a:lnTo>
                  <a:lnTo>
                    <a:pt x="74083" y="0"/>
                  </a:lnTo>
                  <a:close/>
                </a:path>
              </a:pathLst>
            </a:custGeom>
            <a:solidFill>
              <a:srgbClr val="7F7F7F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91"/>
            <p:cNvSpPr/>
            <p:nvPr/>
          </p:nvSpPr>
          <p:spPr>
            <a:xfrm>
              <a:off x="3001852" y="2262000"/>
              <a:ext cx="148529" cy="191508"/>
            </a:xfrm>
            <a:custGeom>
              <a:rect b="b" l="l" r="r" t="t"/>
              <a:pathLst>
                <a:path extrusionOk="0" h="191508" w="148529">
                  <a:moveTo>
                    <a:pt x="0" y="0"/>
                  </a:moveTo>
                  <a:lnTo>
                    <a:pt x="148529" y="0"/>
                  </a:lnTo>
                  <a:lnTo>
                    <a:pt x="148529" y="141007"/>
                  </a:lnTo>
                  <a:lnTo>
                    <a:pt x="134255" y="138300"/>
                  </a:lnTo>
                  <a:cubicBezTo>
                    <a:pt x="98089" y="138300"/>
                    <a:pt x="65347" y="152071"/>
                    <a:pt x="41646" y="174335"/>
                  </a:cubicBezTo>
                  <a:lnTo>
                    <a:pt x="29321" y="191508"/>
                  </a:lnTo>
                  <a:lnTo>
                    <a:pt x="0" y="152835"/>
                  </a:lnTo>
                  <a:close/>
                </a:path>
              </a:pathLst>
            </a:custGeom>
            <a:solidFill>
              <a:srgbClr val="7F7F7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91"/>
            <p:cNvSpPr/>
            <p:nvPr/>
          </p:nvSpPr>
          <p:spPr>
            <a:xfrm>
              <a:off x="2872103" y="1782149"/>
              <a:ext cx="465112" cy="598528"/>
            </a:xfrm>
            <a:custGeom>
              <a:rect b="b" l="l" r="r" t="t"/>
              <a:pathLst>
                <a:path extrusionOk="0" h="598528" w="465112">
                  <a:moveTo>
                    <a:pt x="246350" y="659"/>
                  </a:moveTo>
                  <a:cubicBezTo>
                    <a:pt x="358212" y="5565"/>
                    <a:pt x="399568" y="82853"/>
                    <a:pt x="418212" y="121122"/>
                  </a:cubicBezTo>
                  <a:cubicBezTo>
                    <a:pt x="438818" y="162333"/>
                    <a:pt x="442544" y="231453"/>
                    <a:pt x="439600" y="308972"/>
                  </a:cubicBezTo>
                  <a:cubicBezTo>
                    <a:pt x="439411" y="315172"/>
                    <a:pt x="439223" y="321373"/>
                    <a:pt x="439034" y="327573"/>
                  </a:cubicBezTo>
                  <a:lnTo>
                    <a:pt x="451007" y="332890"/>
                  </a:lnTo>
                  <a:cubicBezTo>
                    <a:pt x="459715" y="341844"/>
                    <a:pt x="465112" y="354109"/>
                    <a:pt x="465112" y="367847"/>
                  </a:cubicBezTo>
                  <a:cubicBezTo>
                    <a:pt x="464622" y="381094"/>
                    <a:pt x="458979" y="393114"/>
                    <a:pt x="450026" y="401823"/>
                  </a:cubicBezTo>
                  <a:lnTo>
                    <a:pt x="434542" y="408070"/>
                  </a:lnTo>
                  <a:lnTo>
                    <a:pt x="430768" y="435553"/>
                  </a:lnTo>
                  <a:cubicBezTo>
                    <a:pt x="422919" y="473822"/>
                    <a:pt x="374837" y="602365"/>
                    <a:pt x="240406" y="598441"/>
                  </a:cubicBezTo>
                  <a:cubicBezTo>
                    <a:pt x="105975" y="595497"/>
                    <a:pt x="46118" y="471860"/>
                    <a:pt x="38269" y="419854"/>
                  </a:cubicBezTo>
                  <a:lnTo>
                    <a:pt x="35776" y="401823"/>
                  </a:lnTo>
                  <a:lnTo>
                    <a:pt x="13737" y="392378"/>
                  </a:lnTo>
                  <a:cubicBezTo>
                    <a:pt x="5151" y="383302"/>
                    <a:pt x="0" y="370791"/>
                    <a:pt x="0" y="357054"/>
                  </a:cubicBezTo>
                  <a:cubicBezTo>
                    <a:pt x="490" y="343807"/>
                    <a:pt x="6133" y="331786"/>
                    <a:pt x="15086" y="323078"/>
                  </a:cubicBezTo>
                  <a:lnTo>
                    <a:pt x="29790" y="317145"/>
                  </a:lnTo>
                  <a:cubicBezTo>
                    <a:pt x="29672" y="311150"/>
                    <a:pt x="29555" y="305155"/>
                    <a:pt x="29437" y="299160"/>
                  </a:cubicBezTo>
                  <a:cubicBezTo>
                    <a:pt x="28456" y="242247"/>
                    <a:pt x="32181" y="162103"/>
                    <a:pt x="59656" y="107154"/>
                  </a:cubicBezTo>
                  <a:cubicBezTo>
                    <a:pt x="92038" y="41409"/>
                    <a:pt x="112900" y="-6210"/>
                    <a:pt x="246350" y="65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91"/>
            <p:cNvSpPr/>
            <p:nvPr/>
          </p:nvSpPr>
          <p:spPr>
            <a:xfrm>
              <a:off x="3061484" y="2269707"/>
              <a:ext cx="107938" cy="33618"/>
            </a:xfrm>
            <a:custGeom>
              <a:rect b="b" l="l" r="r" t="t"/>
              <a:pathLst>
                <a:path extrusionOk="0" h="36874" w="118393">
                  <a:moveTo>
                    <a:pt x="118393" y="3229"/>
                  </a:moveTo>
                  <a:cubicBezTo>
                    <a:pt x="100096" y="35518"/>
                    <a:pt x="59197" y="46281"/>
                    <a:pt x="26908" y="27984"/>
                  </a:cubicBezTo>
                  <a:cubicBezTo>
                    <a:pt x="15068" y="21526"/>
                    <a:pt x="6458" y="11839"/>
                    <a:pt x="0" y="0"/>
                  </a:cubicBezTo>
                  <a:lnTo>
                    <a:pt x="118393" y="322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91"/>
            <p:cNvSpPr/>
            <p:nvPr/>
          </p:nvSpPr>
          <p:spPr>
            <a:xfrm>
              <a:off x="2876717" y="1705489"/>
              <a:ext cx="463383" cy="421518"/>
            </a:xfrm>
            <a:custGeom>
              <a:rect b="b" l="l" r="r" t="t"/>
              <a:pathLst>
                <a:path extrusionOk="0" h="421518" w="463382">
                  <a:moveTo>
                    <a:pt x="106268" y="0"/>
                  </a:moveTo>
                  <a:cubicBezTo>
                    <a:pt x="106268" y="0"/>
                    <a:pt x="143556" y="22569"/>
                    <a:pt x="197525" y="28457"/>
                  </a:cubicBezTo>
                  <a:cubicBezTo>
                    <a:pt x="251494" y="34344"/>
                    <a:pt x="322144" y="13737"/>
                    <a:pt x="392794" y="68687"/>
                  </a:cubicBezTo>
                  <a:cubicBezTo>
                    <a:pt x="445781" y="109900"/>
                    <a:pt x="475586" y="172638"/>
                    <a:pt x="458614" y="222958"/>
                  </a:cubicBezTo>
                  <a:lnTo>
                    <a:pt x="455182" y="229542"/>
                  </a:lnTo>
                  <a:lnTo>
                    <a:pt x="456115" y="259035"/>
                  </a:lnTo>
                  <a:cubicBezTo>
                    <a:pt x="455103" y="332950"/>
                    <a:pt x="426486" y="411291"/>
                    <a:pt x="425750" y="412763"/>
                  </a:cubicBezTo>
                  <a:lnTo>
                    <a:pt x="422463" y="323293"/>
                  </a:lnTo>
                  <a:cubicBezTo>
                    <a:pt x="422819" y="304493"/>
                    <a:pt x="423174" y="285694"/>
                    <a:pt x="423530" y="266894"/>
                  </a:cubicBezTo>
                  <a:lnTo>
                    <a:pt x="421195" y="265493"/>
                  </a:lnTo>
                  <a:cubicBezTo>
                    <a:pt x="402990" y="255002"/>
                    <a:pt x="324965" y="214649"/>
                    <a:pt x="241682" y="240406"/>
                  </a:cubicBezTo>
                  <a:cubicBezTo>
                    <a:pt x="241682" y="240406"/>
                    <a:pt x="125985" y="210356"/>
                    <a:pt x="57620" y="247543"/>
                  </a:cubicBezTo>
                  <a:lnTo>
                    <a:pt x="34750" y="265483"/>
                  </a:lnTo>
                  <a:lnTo>
                    <a:pt x="30712" y="273769"/>
                  </a:lnTo>
                  <a:cubicBezTo>
                    <a:pt x="32347" y="289796"/>
                    <a:pt x="32396" y="308998"/>
                    <a:pt x="34031" y="325025"/>
                  </a:cubicBezTo>
                  <a:cubicBezTo>
                    <a:pt x="30760" y="342687"/>
                    <a:pt x="42588" y="436599"/>
                    <a:pt x="38074" y="419432"/>
                  </a:cubicBezTo>
                  <a:cubicBezTo>
                    <a:pt x="33560" y="402265"/>
                    <a:pt x="2256" y="269905"/>
                    <a:pt x="6948" y="222023"/>
                  </a:cubicBezTo>
                  <a:lnTo>
                    <a:pt x="7989" y="215148"/>
                  </a:lnTo>
                  <a:lnTo>
                    <a:pt x="7166" y="212876"/>
                  </a:lnTo>
                  <a:cubicBezTo>
                    <a:pt x="-8416" y="157537"/>
                    <a:pt x="-7802" y="70528"/>
                    <a:pt x="10626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91"/>
            <p:cNvSpPr/>
            <p:nvPr/>
          </p:nvSpPr>
          <p:spPr>
            <a:xfrm>
              <a:off x="2880951" y="1707077"/>
              <a:ext cx="415873" cy="383121"/>
            </a:xfrm>
            <a:custGeom>
              <a:rect b="b" l="l" r="r" t="t"/>
              <a:pathLst>
                <a:path extrusionOk="0" h="383121" w="415873">
                  <a:moveTo>
                    <a:pt x="106268" y="0"/>
                  </a:moveTo>
                  <a:cubicBezTo>
                    <a:pt x="106268" y="0"/>
                    <a:pt x="114543" y="10578"/>
                    <a:pt x="147798" y="19410"/>
                  </a:cubicBezTo>
                  <a:cubicBezTo>
                    <a:pt x="157583" y="49266"/>
                    <a:pt x="120567" y="138889"/>
                    <a:pt x="164977" y="179135"/>
                  </a:cubicBezTo>
                  <a:cubicBezTo>
                    <a:pt x="209387" y="219381"/>
                    <a:pt x="389659" y="215155"/>
                    <a:pt x="414257" y="260884"/>
                  </a:cubicBezTo>
                  <a:cubicBezTo>
                    <a:pt x="430918" y="271688"/>
                    <a:pt x="315055" y="212150"/>
                    <a:pt x="239545" y="237610"/>
                  </a:cubicBezTo>
                  <a:cubicBezTo>
                    <a:pt x="183085" y="232909"/>
                    <a:pt x="118769" y="223473"/>
                    <a:pt x="83963" y="230558"/>
                  </a:cubicBezTo>
                  <a:lnTo>
                    <a:pt x="24362" y="265831"/>
                  </a:lnTo>
                  <a:cubicBezTo>
                    <a:pt x="25997" y="281858"/>
                    <a:pt x="36244" y="306040"/>
                    <a:pt x="34031" y="325025"/>
                  </a:cubicBezTo>
                  <a:cubicBezTo>
                    <a:pt x="31819" y="344011"/>
                    <a:pt x="15601" y="396911"/>
                    <a:pt x="11087" y="379744"/>
                  </a:cubicBezTo>
                  <a:cubicBezTo>
                    <a:pt x="6573" y="362577"/>
                    <a:pt x="2256" y="269905"/>
                    <a:pt x="6948" y="222023"/>
                  </a:cubicBezTo>
                  <a:lnTo>
                    <a:pt x="7989" y="215148"/>
                  </a:lnTo>
                  <a:lnTo>
                    <a:pt x="7166" y="212876"/>
                  </a:lnTo>
                  <a:cubicBezTo>
                    <a:pt x="-8416" y="157537"/>
                    <a:pt x="-7802" y="70528"/>
                    <a:pt x="106268" y="0"/>
                  </a:cubicBez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91"/>
            <p:cNvSpPr/>
            <p:nvPr/>
          </p:nvSpPr>
          <p:spPr>
            <a:xfrm>
              <a:off x="3203574" y="1790700"/>
              <a:ext cx="74613" cy="74613"/>
            </a:xfrm>
            <a:custGeom>
              <a:rect b="b" l="l" r="r" t="t"/>
              <a:pathLst>
                <a:path extrusionOk="0" h="74613" w="74613">
                  <a:moveTo>
                    <a:pt x="0" y="0"/>
                  </a:moveTo>
                  <a:cubicBezTo>
                    <a:pt x="29766" y="15743"/>
                    <a:pt x="59532" y="31486"/>
                    <a:pt x="74613" y="74613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1"/>
            <p:cNvSpPr/>
            <p:nvPr/>
          </p:nvSpPr>
          <p:spPr>
            <a:xfrm>
              <a:off x="3273744" y="1879600"/>
              <a:ext cx="26542" cy="2654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222" name="Google Shape;222;p91"/>
          <p:cNvSpPr/>
          <p:nvPr/>
        </p:nvSpPr>
        <p:spPr>
          <a:xfrm flipH="1" rot="9271915">
            <a:off x="3158506" y="3154715"/>
            <a:ext cx="112643" cy="97106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223" name="Google Shape;223;p91"/>
          <p:cNvSpPr/>
          <p:nvPr/>
        </p:nvSpPr>
        <p:spPr>
          <a:xfrm rot="-1161791">
            <a:off x="1024905" y="3028950"/>
            <a:ext cx="75910" cy="6544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7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230" name="Google Shape;230;p7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2" name="Google Shape;232;p7"/>
          <p:cNvSpPr txBox="1"/>
          <p:nvPr/>
        </p:nvSpPr>
        <p:spPr>
          <a:xfrm>
            <a:off x="990600" y="2175975"/>
            <a:ext cx="12942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3581400" y="2048247"/>
            <a:ext cx="44196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Related Work</a:t>
            </a:r>
            <a:endParaRPr b="1" i="0" sz="44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 txBox="1"/>
          <p:nvPr/>
        </p:nvSpPr>
        <p:spPr>
          <a:xfrm>
            <a:off x="304800" y="438150"/>
            <a:ext cx="838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Related Work現有研究與挑戰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764763" y="1432794"/>
            <a:ext cx="58674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現有比價網站多僅依據價格排序，無法判斷規格價值。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而研究面臨的挑戰包括：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9579" y="2559472"/>
            <a:ext cx="871078" cy="73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4739" y="2502925"/>
            <a:ext cx="1006858" cy="804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8"/>
          <p:cNvGrpSpPr/>
          <p:nvPr/>
        </p:nvGrpSpPr>
        <p:grpSpPr>
          <a:xfrm>
            <a:off x="3307633" y="2331569"/>
            <a:ext cx="2409364" cy="2644521"/>
            <a:chOff x="3401391" y="2111110"/>
            <a:chExt cx="2442335" cy="3553508"/>
          </a:xfrm>
        </p:grpSpPr>
        <p:sp>
          <p:nvSpPr>
            <p:cNvPr id="244" name="Google Shape;244;p8"/>
            <p:cNvSpPr/>
            <p:nvPr/>
          </p:nvSpPr>
          <p:spPr>
            <a:xfrm>
              <a:off x="3401391" y="3033918"/>
              <a:ext cx="2400300" cy="2630700"/>
            </a:xfrm>
            <a:prstGeom prst="roundRect">
              <a:avLst>
                <a:gd fmla="val 16667" name="adj"/>
              </a:avLst>
            </a:prstGeom>
            <a:noFill/>
            <a:ln cap="flat" cmpd="sng" w="199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925" lIns="95875" spcFirstLastPara="1" rIns="95875" wrap="square" tIns="47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3494779" y="2111110"/>
              <a:ext cx="2203470" cy="1920078"/>
            </a:xfrm>
            <a:custGeom>
              <a:rect b="b" l="l" r="r" t="t"/>
              <a:pathLst>
                <a:path extrusionOk="0" h="21600" w="21600">
                  <a:moveTo>
                    <a:pt x="1955" y="0"/>
                  </a:moveTo>
                  <a:cubicBezTo>
                    <a:pt x="19674" y="0"/>
                    <a:pt x="19674" y="0"/>
                    <a:pt x="19674" y="0"/>
                  </a:cubicBezTo>
                  <a:cubicBezTo>
                    <a:pt x="20727" y="0"/>
                    <a:pt x="21600" y="1213"/>
                    <a:pt x="21600" y="2679"/>
                  </a:cubicBezTo>
                  <a:cubicBezTo>
                    <a:pt x="21600" y="18879"/>
                    <a:pt x="21600" y="18879"/>
                    <a:pt x="21600" y="18879"/>
                  </a:cubicBezTo>
                  <a:cubicBezTo>
                    <a:pt x="21600" y="20386"/>
                    <a:pt x="20727" y="21599"/>
                    <a:pt x="19674" y="21599"/>
                  </a:cubicBezTo>
                  <a:cubicBezTo>
                    <a:pt x="1955" y="21599"/>
                    <a:pt x="1955" y="21599"/>
                    <a:pt x="1955" y="21599"/>
                  </a:cubicBezTo>
                  <a:cubicBezTo>
                    <a:pt x="872" y="21599"/>
                    <a:pt x="0" y="20386"/>
                    <a:pt x="0" y="18879"/>
                  </a:cubicBezTo>
                  <a:cubicBezTo>
                    <a:pt x="0" y="2679"/>
                    <a:pt x="0" y="2679"/>
                    <a:pt x="0" y="2679"/>
                  </a:cubicBezTo>
                  <a:cubicBezTo>
                    <a:pt x="0" y="1213"/>
                    <a:pt x="872" y="0"/>
                    <a:pt x="19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17950" lIns="17950" spcFirstLastPara="1" rIns="17950" wrap="square" tIns="1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3769989" y="3402500"/>
              <a:ext cx="17241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925" lIns="95875" spcFirstLastPara="1" rIns="95875" wrap="square" tIns="47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8"/>
                <a:buFont typeface="Arial"/>
                <a:buNone/>
              </a:pPr>
              <a:r>
                <a:rPr b="0" i="0" lang="en-US" sz="1268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商品特質難以量化</a:t>
              </a:r>
              <a:endParaRPr b="0" i="0" sz="12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 flipH="1" rot="10800000">
              <a:off x="4464340" y="4098311"/>
              <a:ext cx="290700" cy="1716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7925" lIns="95875" spcFirstLastPara="1" rIns="95875" wrap="square" tIns="47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3443426" y="4429296"/>
              <a:ext cx="2400300" cy="11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925" lIns="95875" spcFirstLastPara="1" rIns="95875" wrap="square" tIns="479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49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3A4F6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關鍵特質是主觀的，像是相機的「發色」或筆電的「質感」，這些都沒辦法簡單地變成一個數字來比較。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6321684" y="2367116"/>
            <a:ext cx="2385215" cy="2634010"/>
            <a:chOff x="6089690" y="2125233"/>
            <a:chExt cx="2496300" cy="3539385"/>
          </a:xfrm>
        </p:grpSpPr>
        <p:sp>
          <p:nvSpPr>
            <p:cNvPr id="250" name="Google Shape;250;p8"/>
            <p:cNvSpPr/>
            <p:nvPr/>
          </p:nvSpPr>
          <p:spPr>
            <a:xfrm>
              <a:off x="6089690" y="3033918"/>
              <a:ext cx="2496300" cy="2630700"/>
            </a:xfrm>
            <a:prstGeom prst="roundRect">
              <a:avLst>
                <a:gd fmla="val 16667" name="adj"/>
              </a:avLst>
            </a:prstGeom>
            <a:noFill/>
            <a:ln cap="flat" cmpd="sng" w="199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925" lIns="95875" spcFirstLastPara="1" rIns="95875" wrap="square" tIns="47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6249797" y="2125233"/>
              <a:ext cx="2201094" cy="1920078"/>
            </a:xfrm>
            <a:custGeom>
              <a:rect b="b" l="l" r="r" t="t"/>
              <a:pathLst>
                <a:path extrusionOk="0" h="21600" w="21600">
                  <a:moveTo>
                    <a:pt x="1955" y="0"/>
                  </a:moveTo>
                  <a:cubicBezTo>
                    <a:pt x="19674" y="0"/>
                    <a:pt x="19674" y="0"/>
                    <a:pt x="19674" y="0"/>
                  </a:cubicBezTo>
                  <a:cubicBezTo>
                    <a:pt x="20727" y="0"/>
                    <a:pt x="21600" y="1213"/>
                    <a:pt x="21600" y="2679"/>
                  </a:cubicBezTo>
                  <a:cubicBezTo>
                    <a:pt x="21600" y="18879"/>
                    <a:pt x="21600" y="18879"/>
                    <a:pt x="21600" y="18879"/>
                  </a:cubicBezTo>
                  <a:cubicBezTo>
                    <a:pt x="21600" y="20386"/>
                    <a:pt x="20727" y="21599"/>
                    <a:pt x="19674" y="21599"/>
                  </a:cubicBezTo>
                  <a:cubicBezTo>
                    <a:pt x="1955" y="21599"/>
                    <a:pt x="1955" y="21599"/>
                    <a:pt x="1955" y="21599"/>
                  </a:cubicBezTo>
                  <a:cubicBezTo>
                    <a:pt x="872" y="21599"/>
                    <a:pt x="0" y="20386"/>
                    <a:pt x="0" y="18879"/>
                  </a:cubicBezTo>
                  <a:cubicBezTo>
                    <a:pt x="0" y="2679"/>
                    <a:pt x="0" y="2679"/>
                    <a:pt x="0" y="2679"/>
                  </a:cubicBezTo>
                  <a:cubicBezTo>
                    <a:pt x="0" y="1213"/>
                    <a:pt x="872" y="0"/>
                    <a:pt x="1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17950" lIns="17950" spcFirstLastPara="1" rIns="17950" wrap="square" tIns="1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4"/>
                <a:buFont typeface="Arial"/>
                <a:buNone/>
              </a:pPr>
              <a:r>
                <a:t/>
              </a:r>
              <a:endParaRPr b="0" i="0" sz="734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6546353" y="3388985"/>
              <a:ext cx="15831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925" lIns="95875" spcFirstLastPara="1" rIns="95875" wrap="square" tIns="47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8"/>
                <a:buFont typeface="Arial"/>
                <a:buNone/>
              </a:pPr>
              <a:r>
                <a:rPr b="0" i="0" lang="en-US" sz="1268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缺乏語意理解模型</a:t>
              </a:r>
              <a:endParaRPr b="0" i="0" sz="126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 flipH="1" rot="10800000">
              <a:off x="7221155" y="4124816"/>
              <a:ext cx="290700" cy="1716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7925" lIns="95875" spcFirstLastPara="1" rIns="95875" wrap="square" tIns="47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6177750" y="4375884"/>
              <a:ext cx="2377500" cy="12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925" lIns="95875" spcFirstLastPara="1" rIns="95875" wrap="square" tIns="479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9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3A4F6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系統只能比對文字，但無法真正「理解」規格的意義。例如，它不知道 i7 比 i5 強，更不知道這個差異對使用者的重要性。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8"/>
          <p:cNvGrpSpPr/>
          <p:nvPr/>
        </p:nvGrpSpPr>
        <p:grpSpPr>
          <a:xfrm>
            <a:off x="437108" y="2331563"/>
            <a:ext cx="2390219" cy="2634010"/>
            <a:chOff x="713092" y="2125233"/>
            <a:chExt cx="2400300" cy="3539385"/>
          </a:xfrm>
        </p:grpSpPr>
        <p:sp>
          <p:nvSpPr>
            <p:cNvPr id="256" name="Google Shape;256;p8"/>
            <p:cNvSpPr/>
            <p:nvPr/>
          </p:nvSpPr>
          <p:spPr>
            <a:xfrm>
              <a:off x="713092" y="3033918"/>
              <a:ext cx="2400300" cy="2630700"/>
            </a:xfrm>
            <a:prstGeom prst="roundRect">
              <a:avLst>
                <a:gd fmla="val 16667" name="adj"/>
              </a:avLst>
            </a:prstGeom>
            <a:noFill/>
            <a:ln cap="flat" cmpd="sng" w="199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925" lIns="95875" spcFirstLastPara="1" rIns="95875" wrap="square" tIns="47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836013" y="2125233"/>
              <a:ext cx="2201850" cy="1920078"/>
            </a:xfrm>
            <a:custGeom>
              <a:rect b="b" l="l" r="r" t="t"/>
              <a:pathLst>
                <a:path extrusionOk="0" h="21600" w="21600">
                  <a:moveTo>
                    <a:pt x="1925" y="0"/>
                  </a:moveTo>
                  <a:cubicBezTo>
                    <a:pt x="19644" y="0"/>
                    <a:pt x="19644" y="0"/>
                    <a:pt x="19644" y="0"/>
                  </a:cubicBezTo>
                  <a:cubicBezTo>
                    <a:pt x="20697" y="0"/>
                    <a:pt x="21600" y="1213"/>
                    <a:pt x="21600" y="2679"/>
                  </a:cubicBezTo>
                  <a:cubicBezTo>
                    <a:pt x="21600" y="18879"/>
                    <a:pt x="21600" y="18879"/>
                    <a:pt x="21600" y="18879"/>
                  </a:cubicBezTo>
                  <a:cubicBezTo>
                    <a:pt x="21600" y="20386"/>
                    <a:pt x="20697" y="21599"/>
                    <a:pt x="19644" y="21599"/>
                  </a:cubicBezTo>
                  <a:cubicBezTo>
                    <a:pt x="1925" y="21599"/>
                    <a:pt x="1925" y="21599"/>
                    <a:pt x="1925" y="21599"/>
                  </a:cubicBezTo>
                  <a:cubicBezTo>
                    <a:pt x="872" y="21599"/>
                    <a:pt x="0" y="20386"/>
                    <a:pt x="0" y="18879"/>
                  </a:cubicBezTo>
                  <a:cubicBezTo>
                    <a:pt x="0" y="2679"/>
                    <a:pt x="0" y="2679"/>
                    <a:pt x="0" y="2679"/>
                  </a:cubicBezTo>
                  <a:cubicBezTo>
                    <a:pt x="0" y="1213"/>
                    <a:pt x="872" y="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17950" lIns="17950" spcFirstLastPara="1" rIns="17950" wrap="square" tIns="1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8" name="Google Shape;258;p8"/>
            <p:cNvSpPr txBox="1"/>
            <p:nvPr/>
          </p:nvSpPr>
          <p:spPr>
            <a:xfrm>
              <a:off x="826045" y="3429556"/>
              <a:ext cx="22218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925" lIns="95875" spcFirstLastPara="1" rIns="95875" wrap="square" tIns="479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8"/>
                <a:buFont typeface="Arial"/>
                <a:buNone/>
              </a:pPr>
              <a:r>
                <a:rPr b="0" i="0" lang="en-US" sz="1268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不同電商格式不一致</a:t>
              </a:r>
              <a:endParaRPr b="0" i="0" sz="126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1607553" y="2398160"/>
              <a:ext cx="658766" cy="737402"/>
            </a:xfrm>
            <a:custGeom>
              <a:rect b="b" l="l" r="r" t="t"/>
              <a:pathLst>
                <a:path extrusionOk="0" h="487" w="355">
                  <a:moveTo>
                    <a:pt x="346" y="132"/>
                  </a:moveTo>
                  <a:lnTo>
                    <a:pt x="346" y="132"/>
                  </a:lnTo>
                  <a:cubicBezTo>
                    <a:pt x="116" y="17"/>
                    <a:pt x="116" y="17"/>
                    <a:pt x="116" y="17"/>
                  </a:cubicBezTo>
                  <a:cubicBezTo>
                    <a:pt x="89" y="0"/>
                    <a:pt x="27" y="25"/>
                    <a:pt x="9" y="53"/>
                  </a:cubicBezTo>
                  <a:cubicBezTo>
                    <a:pt x="0" y="70"/>
                    <a:pt x="0" y="79"/>
                    <a:pt x="0" y="79"/>
                  </a:cubicBezTo>
                  <a:cubicBezTo>
                    <a:pt x="9" y="345"/>
                    <a:pt x="9" y="345"/>
                    <a:pt x="9" y="345"/>
                  </a:cubicBezTo>
                  <a:cubicBezTo>
                    <a:pt x="9" y="345"/>
                    <a:pt x="18" y="354"/>
                    <a:pt x="18" y="363"/>
                  </a:cubicBezTo>
                  <a:cubicBezTo>
                    <a:pt x="36" y="363"/>
                    <a:pt x="222" y="486"/>
                    <a:pt x="222" y="486"/>
                  </a:cubicBezTo>
                  <a:cubicBezTo>
                    <a:pt x="231" y="486"/>
                    <a:pt x="231" y="486"/>
                    <a:pt x="231" y="486"/>
                  </a:cubicBezTo>
                  <a:cubicBezTo>
                    <a:pt x="240" y="486"/>
                    <a:pt x="240" y="486"/>
                    <a:pt x="240" y="486"/>
                  </a:cubicBezTo>
                  <a:cubicBezTo>
                    <a:pt x="248" y="486"/>
                    <a:pt x="248" y="478"/>
                    <a:pt x="248" y="478"/>
                  </a:cubicBezTo>
                  <a:cubicBezTo>
                    <a:pt x="248" y="203"/>
                    <a:pt x="248" y="203"/>
                    <a:pt x="248" y="203"/>
                  </a:cubicBezTo>
                  <a:cubicBezTo>
                    <a:pt x="248" y="194"/>
                    <a:pt x="248" y="194"/>
                    <a:pt x="240" y="185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70"/>
                    <a:pt x="53" y="61"/>
                    <a:pt x="71" y="53"/>
                  </a:cubicBezTo>
                  <a:cubicBezTo>
                    <a:pt x="89" y="44"/>
                    <a:pt x="97" y="44"/>
                    <a:pt x="107" y="44"/>
                  </a:cubicBezTo>
                  <a:cubicBezTo>
                    <a:pt x="107" y="44"/>
                    <a:pt x="293" y="150"/>
                    <a:pt x="301" y="150"/>
                  </a:cubicBezTo>
                  <a:cubicBezTo>
                    <a:pt x="310" y="159"/>
                    <a:pt x="310" y="159"/>
                    <a:pt x="310" y="159"/>
                  </a:cubicBezTo>
                  <a:cubicBezTo>
                    <a:pt x="310" y="168"/>
                    <a:pt x="310" y="425"/>
                    <a:pt x="310" y="425"/>
                  </a:cubicBezTo>
                  <a:cubicBezTo>
                    <a:pt x="310" y="433"/>
                    <a:pt x="319" y="442"/>
                    <a:pt x="328" y="442"/>
                  </a:cubicBezTo>
                  <a:cubicBezTo>
                    <a:pt x="337" y="442"/>
                    <a:pt x="354" y="433"/>
                    <a:pt x="354" y="425"/>
                  </a:cubicBezTo>
                  <a:cubicBezTo>
                    <a:pt x="354" y="141"/>
                    <a:pt x="354" y="141"/>
                    <a:pt x="354" y="141"/>
                  </a:cubicBezTo>
                  <a:lnTo>
                    <a:pt x="346" y="132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950" lIns="35950" spcFirstLastPara="1" rIns="35950" wrap="square" tIns="1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 flipH="1" rot="10800000">
              <a:off x="1791547" y="4115980"/>
              <a:ext cx="290700" cy="1716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7925" lIns="95875" spcFirstLastPara="1" rIns="95875" wrap="square" tIns="47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7"/>
                <a:buFont typeface="Arial"/>
                <a:buNone/>
              </a:pPr>
              <a:r>
                <a:t/>
              </a:r>
              <a:endParaRPr b="0" i="0" sz="1887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908092" y="4567786"/>
              <a:ext cx="2129700" cy="9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925" lIns="95875" spcFirstLastPara="1" rIns="95875" wrap="square" tIns="479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9"/>
                <a:buFont typeface="Arial"/>
                <a:buNone/>
              </a:pPr>
              <a:r>
                <a:rPr b="0" i="0" lang="en-US" sz="1048" u="none" cap="none" strike="noStrike">
                  <a:solidFill>
                    <a:srgbClr val="3A4F6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每個購物網站對同個商品的規格，描述和排列順序都不同。</a:t>
              </a:r>
              <a:endParaRPr b="0" i="0" sz="14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2" name="Google Shape;26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7763" y="2453025"/>
            <a:ext cx="733150" cy="7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314" y="2331577"/>
            <a:ext cx="854600" cy="8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/>
          <p:nvPr/>
        </p:nvSpPr>
        <p:spPr>
          <a:xfrm>
            <a:off x="304800" y="438150"/>
            <a:ext cx="838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Related Work相關研究 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9" name="Google Shape;269;p9"/>
          <p:cNvGrpSpPr/>
          <p:nvPr/>
        </p:nvGrpSpPr>
        <p:grpSpPr>
          <a:xfrm>
            <a:off x="997725" y="1882125"/>
            <a:ext cx="5238189" cy="2205120"/>
            <a:chOff x="0" y="269"/>
            <a:chExt cx="7070035" cy="2205120"/>
          </a:xfrm>
        </p:grpSpPr>
        <p:cxnSp>
          <p:nvCxnSpPr>
            <p:cNvPr id="270" name="Google Shape;270;p9"/>
            <p:cNvCxnSpPr/>
            <p:nvPr/>
          </p:nvCxnSpPr>
          <p:spPr>
            <a:xfrm>
              <a:off x="0" y="269"/>
              <a:ext cx="7070035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1" name="Google Shape;271;p9"/>
            <p:cNvSpPr/>
            <p:nvPr/>
          </p:nvSpPr>
          <p:spPr>
            <a:xfrm>
              <a:off x="0" y="269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0" y="269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相關領域研究顯示，NLP與深度學習可有效提取關鍵特徵。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" name="Google Shape;273;p9"/>
            <p:cNvCxnSpPr/>
            <p:nvPr/>
          </p:nvCxnSpPr>
          <p:spPr>
            <a:xfrm>
              <a:off x="0" y="441293"/>
              <a:ext cx="7070035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4" name="Google Shape;274;p9"/>
            <p:cNvSpPr/>
            <p:nvPr/>
          </p:nvSpPr>
          <p:spPr>
            <a:xfrm>
              <a:off x="0" y="441293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0" y="441293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例如：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6" name="Google Shape;276;p9"/>
            <p:cNvCxnSpPr/>
            <p:nvPr/>
          </p:nvCxnSpPr>
          <p:spPr>
            <a:xfrm>
              <a:off x="0" y="882317"/>
              <a:ext cx="7070035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7" name="Google Shape;277;p9"/>
            <p:cNvSpPr/>
            <p:nvPr/>
          </p:nvSpPr>
          <p:spPr>
            <a:xfrm>
              <a:off x="0" y="882317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0" y="882317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使用BERT模型進行產品評論分析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" name="Google Shape;279;p9"/>
            <p:cNvCxnSpPr/>
            <p:nvPr/>
          </p:nvCxnSpPr>
          <p:spPr>
            <a:xfrm>
              <a:off x="0" y="1323341"/>
              <a:ext cx="7070035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0" name="Google Shape;280;p9"/>
            <p:cNvSpPr/>
            <p:nvPr/>
          </p:nvSpPr>
          <p:spPr>
            <a:xfrm>
              <a:off x="0" y="1323341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0" y="1323341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應用GPT模型比較商品描述語意相似度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p9"/>
            <p:cNvCxnSpPr/>
            <p:nvPr/>
          </p:nvCxnSpPr>
          <p:spPr>
            <a:xfrm>
              <a:off x="0" y="1764365"/>
              <a:ext cx="7070035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3" name="Google Shape;283;p9"/>
            <p:cNvSpPr/>
            <p:nvPr/>
          </p:nvSpPr>
          <p:spPr>
            <a:xfrm>
              <a:off x="0" y="1764365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0" y="1764365"/>
              <a:ext cx="7070035" cy="44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-本研究將此技術應用於商品比較場景。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參考下方內容幫我生成圖片&#10;&quot;相關領域研究顯示，NLP與深度學習可有效提取關鍵特徵。&#10;例如：&#10;- 使用BERT模型進行產品評論分析&#10;- 應用GPT模型比較商品描述語意相似度&#10;-本研究將此技術應用於商品比較場景。&quot;&#10;" id="285" name="Google Shape;2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1801" y="1146037"/>
            <a:ext cx="2108500" cy="3862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  <a:reflection blurRad="0" dir="5400000" dist="38100" endA="0" endPos="30000" fadeDir="5400012" kx="0" rotWithShape="0" algn="bl" stA="41000" stPos="0" sy="-100000" ky="0"/>
          </a:effectLst>
        </p:spPr>
      </p:pic>
      <p:pic>
        <p:nvPicPr>
          <p:cNvPr id="286" name="Google Shape;286;p9"/>
          <p:cNvPicPr preferRelativeResize="0"/>
          <p:nvPr/>
        </p:nvPicPr>
        <p:blipFill rotWithShape="1">
          <a:blip r:embed="rId4">
            <a:alphaModFix/>
          </a:blip>
          <a:srcRect b="28" l="0" r="0" t="39"/>
          <a:stretch/>
        </p:blipFill>
        <p:spPr>
          <a:xfrm>
            <a:off x="6671801" y="1145349"/>
            <a:ext cx="2108500" cy="386422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  <a:reflection blurRad="0" dir="5400000" dist="38100" endA="0" endPos="30000" fadeDir="5400012" kx="0" rotWithShape="0" algn="bl" stA="41000" stPos="0" sy="-100000" ky="0"/>
          </a:effectLst>
        </p:spPr>
      </p:pic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0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293" name="Google Shape;293;p10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5" name="Google Shape;295;p10"/>
          <p:cNvSpPr txBox="1"/>
          <p:nvPr/>
        </p:nvSpPr>
        <p:spPr>
          <a:xfrm>
            <a:off x="990600" y="2175975"/>
            <a:ext cx="11016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3190125" y="2048175"/>
            <a:ext cx="5596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Proposed Design </a:t>
            </a:r>
            <a:endParaRPr b="1" i="0" sz="44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參考下方內容幫我生成圖片 圖像中顏色以 低飽和綠色與低飽合深藍配色和白色為主 不要有文字&#10;&quot;自動擷取商品資料，分析特徵及找出商品共同點、自動或手動調整權重值、評估CP值，並以視覺化方式輸出結果。&#10;&quot;&#10;"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625" y="1934575"/>
            <a:ext cx="5986749" cy="312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 txBox="1"/>
          <p:nvPr/>
        </p:nvSpPr>
        <p:spPr>
          <a:xfrm>
            <a:off x="304800" y="438150"/>
            <a:ext cx="838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Proposed Design系統概念 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2023650" y="1321625"/>
            <a:ext cx="5096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propose a novel AI-based Cost-Performance Comparison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本系統能自動擷取商品資料，分析特徵及找出商品共同點、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自動或手動調整權重值、評估CP值，並以視覺化方式輸出結果。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08" name="Google Shape;308;p92"/>
          <p:cNvGrpSpPr/>
          <p:nvPr/>
        </p:nvGrpSpPr>
        <p:grpSpPr>
          <a:xfrm>
            <a:off x="516448" y="1401405"/>
            <a:ext cx="4062180" cy="1004888"/>
            <a:chOff x="5782733" y="1289050"/>
            <a:chExt cx="5785380" cy="1339850"/>
          </a:xfrm>
        </p:grpSpPr>
        <p:sp>
          <p:nvSpPr>
            <p:cNvPr id="309" name="Google Shape;309;p92"/>
            <p:cNvSpPr/>
            <p:nvPr/>
          </p:nvSpPr>
          <p:spPr>
            <a:xfrm>
              <a:off x="5782733" y="1289050"/>
              <a:ext cx="5785380" cy="1339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92"/>
            <p:cNvSpPr/>
            <p:nvPr/>
          </p:nvSpPr>
          <p:spPr>
            <a:xfrm>
              <a:off x="6223000" y="1660525"/>
              <a:ext cx="596900" cy="5969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US" sz="1250" u="none" cap="none" strike="noStrike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b="0" i="0" sz="1250" u="none" cap="none" strike="noStrike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11" name="Google Shape;311;p92"/>
            <p:cNvSpPr/>
            <p:nvPr/>
          </p:nvSpPr>
          <p:spPr>
            <a:xfrm>
              <a:off x="7057588" y="1509525"/>
              <a:ext cx="1870238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商品連結輸入模組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8588" lvl="0" marL="128588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Arial"/>
                <a:buChar char="•"/>
              </a:pPr>
              <a:r>
                <a:rPr b="0" i="0" lang="en-US" sz="90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輸入商品連接</a:t>
              </a:r>
              <a:endParaRPr b="0" i="0" sz="9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12" name="Google Shape;312;p92"/>
          <p:cNvGrpSpPr/>
          <p:nvPr/>
        </p:nvGrpSpPr>
        <p:grpSpPr>
          <a:xfrm>
            <a:off x="516449" y="2617291"/>
            <a:ext cx="4062178" cy="1004888"/>
            <a:chOff x="5782733" y="2759074"/>
            <a:chExt cx="5785380" cy="1339850"/>
          </a:xfrm>
        </p:grpSpPr>
        <p:sp>
          <p:nvSpPr>
            <p:cNvPr id="313" name="Google Shape;313;p92"/>
            <p:cNvSpPr/>
            <p:nvPr/>
          </p:nvSpPr>
          <p:spPr>
            <a:xfrm>
              <a:off x="5782733" y="2759074"/>
              <a:ext cx="5785380" cy="1339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19100" rotWithShape="0" algn="tl" dir="2700000" dist="241300">
                <a:srgbClr val="000000">
                  <a:alpha val="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2"/>
            <p:cNvSpPr/>
            <p:nvPr/>
          </p:nvSpPr>
          <p:spPr>
            <a:xfrm>
              <a:off x="6223000" y="3130550"/>
              <a:ext cx="596900" cy="5969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US" sz="125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b="0" i="0" sz="125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15" name="Google Shape;315;p92"/>
            <p:cNvSpPr/>
            <p:nvPr/>
          </p:nvSpPr>
          <p:spPr>
            <a:xfrm>
              <a:off x="7057589" y="2979550"/>
              <a:ext cx="24209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自動擷取模組</a:t>
              </a:r>
              <a:endPara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8588" lvl="0" marL="128588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Char char="•"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擷取連結商品的特徵與評價</a:t>
              </a:r>
              <a:endParaRPr b="0" i="0" sz="9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16" name="Google Shape;316;p92"/>
          <p:cNvGrpSpPr/>
          <p:nvPr/>
        </p:nvGrpSpPr>
        <p:grpSpPr>
          <a:xfrm>
            <a:off x="516448" y="3719810"/>
            <a:ext cx="4062179" cy="1004888"/>
            <a:chOff x="5782733" y="4229100"/>
            <a:chExt cx="5785380" cy="1339850"/>
          </a:xfrm>
        </p:grpSpPr>
        <p:sp>
          <p:nvSpPr>
            <p:cNvPr id="317" name="Google Shape;317;p92"/>
            <p:cNvSpPr/>
            <p:nvPr/>
          </p:nvSpPr>
          <p:spPr>
            <a:xfrm>
              <a:off x="5782733" y="4229100"/>
              <a:ext cx="5785380" cy="1339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2"/>
            <p:cNvSpPr/>
            <p:nvPr/>
          </p:nvSpPr>
          <p:spPr>
            <a:xfrm>
              <a:off x="6223000" y="4600575"/>
              <a:ext cx="596900" cy="5969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US" sz="1250" u="none" cap="none" strike="noStrike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b="0" i="0" sz="1250" u="none" cap="none" strike="noStrike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19" name="Google Shape;319;p92"/>
            <p:cNvSpPr/>
            <p:nvPr/>
          </p:nvSpPr>
          <p:spPr>
            <a:xfrm>
              <a:off x="7057588" y="4449575"/>
              <a:ext cx="3571536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NLP語意分析模組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8588" lvl="0" marL="128588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Arial"/>
                <a:buChar char="•"/>
              </a:pPr>
              <a:r>
                <a:rPr b="0" i="0" lang="en-US" sz="90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分析使用者需求，與商品評價，並調整權重</a:t>
              </a:r>
              <a:endParaRPr b="0" i="0" sz="9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20" name="Google Shape;320;p92"/>
          <p:cNvGrpSpPr/>
          <p:nvPr/>
        </p:nvGrpSpPr>
        <p:grpSpPr>
          <a:xfrm>
            <a:off x="4745518" y="1968617"/>
            <a:ext cx="4339035" cy="1004888"/>
            <a:chOff x="5782733" y="2789137"/>
            <a:chExt cx="5785380" cy="1339850"/>
          </a:xfrm>
        </p:grpSpPr>
        <p:sp>
          <p:nvSpPr>
            <p:cNvPr id="321" name="Google Shape;321;p92"/>
            <p:cNvSpPr/>
            <p:nvPr/>
          </p:nvSpPr>
          <p:spPr>
            <a:xfrm>
              <a:off x="5782733" y="2789137"/>
              <a:ext cx="5785380" cy="1339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19100" rotWithShape="0" algn="tl" dir="2700000" dist="241300">
                <a:srgbClr val="000000">
                  <a:alpha val="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2"/>
            <p:cNvSpPr/>
            <p:nvPr/>
          </p:nvSpPr>
          <p:spPr>
            <a:xfrm>
              <a:off x="6223000" y="3130550"/>
              <a:ext cx="596900" cy="5969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US" sz="125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b="0" i="0" sz="125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3" name="Google Shape;323;p92"/>
            <p:cNvSpPr/>
            <p:nvPr/>
          </p:nvSpPr>
          <p:spPr>
            <a:xfrm>
              <a:off x="7057588" y="2979550"/>
              <a:ext cx="2616956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CP值計算模組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8588" lvl="0" marL="128588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Char char="•"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根據分析結果與權重值計算CP值</a:t>
              </a:r>
              <a:endParaRPr b="0" i="0" sz="9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24" name="Google Shape;324;p92"/>
          <p:cNvGrpSpPr/>
          <p:nvPr/>
        </p:nvGrpSpPr>
        <p:grpSpPr>
          <a:xfrm>
            <a:off x="4745518" y="3229565"/>
            <a:ext cx="4062179" cy="1004888"/>
            <a:chOff x="5782733" y="4229100"/>
            <a:chExt cx="5785380" cy="1339850"/>
          </a:xfrm>
        </p:grpSpPr>
        <p:sp>
          <p:nvSpPr>
            <p:cNvPr id="325" name="Google Shape;325;p92"/>
            <p:cNvSpPr/>
            <p:nvPr/>
          </p:nvSpPr>
          <p:spPr>
            <a:xfrm>
              <a:off x="5782733" y="4229100"/>
              <a:ext cx="5785380" cy="1339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2"/>
            <p:cNvSpPr/>
            <p:nvPr/>
          </p:nvSpPr>
          <p:spPr>
            <a:xfrm>
              <a:off x="6223000" y="4600575"/>
              <a:ext cx="596900" cy="5969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US" sz="1250" u="none" cap="none" strike="noStrike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5</a:t>
              </a:r>
              <a:endParaRPr b="0" i="0" sz="1250" u="none" cap="none" strike="noStrike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7" name="Google Shape;327;p92"/>
            <p:cNvSpPr/>
            <p:nvPr/>
          </p:nvSpPr>
          <p:spPr>
            <a:xfrm>
              <a:off x="7057588" y="4449575"/>
              <a:ext cx="3242782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結果視覺化模組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8588" lvl="0" marL="128588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Arial"/>
                <a:buChar char="•"/>
              </a:pPr>
              <a:r>
                <a:rPr b="0" i="0" lang="en-US" sz="90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將結結果列為清單，並顯示其推薦原因</a:t>
              </a:r>
              <a:endParaRPr b="0" i="0" sz="9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28" name="Google Shape;328;p92"/>
          <p:cNvSpPr txBox="1"/>
          <p:nvPr/>
        </p:nvSpPr>
        <p:spPr>
          <a:xfrm>
            <a:off x="381000" y="433613"/>
            <a:ext cx="838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Proposed Design 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7314" l="194" r="-194" t="310"/>
          <a:stretch/>
        </p:blipFill>
        <p:spPr>
          <a:xfrm>
            <a:off x="612997" y="1581150"/>
            <a:ext cx="8077200" cy="335514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 txBox="1"/>
          <p:nvPr/>
        </p:nvSpPr>
        <p:spPr>
          <a:xfrm>
            <a:off x="609600" y="413400"/>
            <a:ext cx="807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Proposed Design流程架構圖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0" name="Google Shape;340;p93"/>
          <p:cNvSpPr/>
          <p:nvPr/>
        </p:nvSpPr>
        <p:spPr>
          <a:xfrm>
            <a:off x="0" y="2826495"/>
            <a:ext cx="9144000" cy="2317005"/>
          </a:xfrm>
          <a:custGeom>
            <a:rect b="b" l="l" r="r" t="t"/>
            <a:pathLst>
              <a:path extrusionOk="0" h="3089340" w="12192000">
                <a:moveTo>
                  <a:pt x="12192000" y="0"/>
                </a:moveTo>
                <a:lnTo>
                  <a:pt x="12192000" y="3089340"/>
                </a:lnTo>
                <a:lnTo>
                  <a:pt x="0" y="3089340"/>
                </a:lnTo>
                <a:lnTo>
                  <a:pt x="0" y="3068082"/>
                </a:lnTo>
                <a:lnTo>
                  <a:pt x="160635" y="3004642"/>
                </a:lnTo>
                <a:cubicBezTo>
                  <a:pt x="646946" y="2828937"/>
                  <a:pt x="1142044" y="2629877"/>
                  <a:pt x="1662430" y="2554670"/>
                </a:cubicBezTo>
                <a:cubicBezTo>
                  <a:pt x="2182816" y="2479463"/>
                  <a:pt x="2725209" y="2675743"/>
                  <a:pt x="3282951" y="2553400"/>
                </a:cubicBezTo>
                <a:cubicBezTo>
                  <a:pt x="3840693" y="2431057"/>
                  <a:pt x="4447752" y="1902313"/>
                  <a:pt x="5008880" y="1820610"/>
                </a:cubicBezTo>
                <a:cubicBezTo>
                  <a:pt x="5570008" y="1738907"/>
                  <a:pt x="6087745" y="2217062"/>
                  <a:pt x="6649720" y="2063180"/>
                </a:cubicBezTo>
                <a:cubicBezTo>
                  <a:pt x="7211695" y="1909298"/>
                  <a:pt x="7705725" y="905998"/>
                  <a:pt x="8380730" y="897320"/>
                </a:cubicBezTo>
                <a:cubicBezTo>
                  <a:pt x="9055735" y="888642"/>
                  <a:pt x="9654963" y="1387963"/>
                  <a:pt x="10204450" y="1249110"/>
                </a:cubicBezTo>
                <a:cubicBezTo>
                  <a:pt x="10753937" y="1110257"/>
                  <a:pt x="11507047" y="227607"/>
                  <a:pt x="11988800" y="51500"/>
                </a:cubicBezTo>
                <a:cubicBezTo>
                  <a:pt x="12049019" y="29487"/>
                  <a:pt x="12108736" y="13757"/>
                  <a:pt x="12167438" y="2828"/>
                </a:cubicBez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1" name="Google Shape;341;p93"/>
          <p:cNvSpPr/>
          <p:nvPr/>
        </p:nvSpPr>
        <p:spPr>
          <a:xfrm>
            <a:off x="0" y="2826495"/>
            <a:ext cx="9144000" cy="2317005"/>
          </a:xfrm>
          <a:custGeom>
            <a:rect b="b" l="l" r="r" t="t"/>
            <a:pathLst>
              <a:path extrusionOk="0" h="3089340" w="12192000">
                <a:moveTo>
                  <a:pt x="0" y="3089340"/>
                </a:moveTo>
                <a:lnTo>
                  <a:pt x="0" y="3068082"/>
                </a:lnTo>
                <a:lnTo>
                  <a:pt x="160635" y="3004642"/>
                </a:lnTo>
                <a:cubicBezTo>
                  <a:pt x="646946" y="2828937"/>
                  <a:pt x="1142044" y="2629877"/>
                  <a:pt x="1662430" y="2554670"/>
                </a:cubicBezTo>
                <a:cubicBezTo>
                  <a:pt x="2182816" y="2479463"/>
                  <a:pt x="2725209" y="2675743"/>
                  <a:pt x="3282951" y="2553400"/>
                </a:cubicBezTo>
                <a:cubicBezTo>
                  <a:pt x="3840693" y="2431057"/>
                  <a:pt x="4447752" y="1902313"/>
                  <a:pt x="5008880" y="1820610"/>
                </a:cubicBezTo>
                <a:cubicBezTo>
                  <a:pt x="5570008" y="1738907"/>
                  <a:pt x="6087745" y="2217062"/>
                  <a:pt x="6649720" y="2063180"/>
                </a:cubicBezTo>
                <a:cubicBezTo>
                  <a:pt x="7211695" y="1909298"/>
                  <a:pt x="7705725" y="905998"/>
                  <a:pt x="8380730" y="897320"/>
                </a:cubicBezTo>
                <a:cubicBezTo>
                  <a:pt x="9055735" y="888642"/>
                  <a:pt x="9654963" y="1387963"/>
                  <a:pt x="10204450" y="1249110"/>
                </a:cubicBezTo>
                <a:cubicBezTo>
                  <a:pt x="10753937" y="1110257"/>
                  <a:pt x="11507047" y="227607"/>
                  <a:pt x="11988800" y="51500"/>
                </a:cubicBezTo>
                <a:cubicBezTo>
                  <a:pt x="12049019" y="29487"/>
                  <a:pt x="12108736" y="13757"/>
                  <a:pt x="12167438" y="2828"/>
                </a:cubicBezTo>
                <a:lnTo>
                  <a:pt x="12192000" y="0"/>
                </a:ln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2" name="Google Shape;342;p93"/>
          <p:cNvSpPr/>
          <p:nvPr/>
        </p:nvSpPr>
        <p:spPr>
          <a:xfrm>
            <a:off x="1214438" y="4643438"/>
            <a:ext cx="219075" cy="21907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chemeClr val="accent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3" name="Google Shape;343;p93"/>
          <p:cNvSpPr/>
          <p:nvPr/>
        </p:nvSpPr>
        <p:spPr>
          <a:xfrm>
            <a:off x="2781300" y="4457700"/>
            <a:ext cx="219075" cy="21907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chemeClr val="accent1">
                <a:alpha val="2000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4" name="Google Shape;344;p93"/>
          <p:cNvSpPr/>
          <p:nvPr/>
        </p:nvSpPr>
        <p:spPr>
          <a:xfrm>
            <a:off x="3757613" y="4081463"/>
            <a:ext cx="219075" cy="21907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chemeClr val="accent1">
                <a:alpha val="2000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5" name="Google Shape;345;p93"/>
          <p:cNvSpPr/>
          <p:nvPr/>
        </p:nvSpPr>
        <p:spPr>
          <a:xfrm>
            <a:off x="5262563" y="4012883"/>
            <a:ext cx="219075" cy="21907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chemeClr val="accent1">
                <a:alpha val="2000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6" name="Google Shape;346;p93"/>
          <p:cNvSpPr/>
          <p:nvPr/>
        </p:nvSpPr>
        <p:spPr>
          <a:xfrm>
            <a:off x="6529388" y="3443288"/>
            <a:ext cx="219075" cy="21907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chemeClr val="accent1">
                <a:alpha val="2000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7" name="Google Shape;347;p93"/>
          <p:cNvSpPr/>
          <p:nvPr/>
        </p:nvSpPr>
        <p:spPr>
          <a:xfrm>
            <a:off x="8415338" y="3068955"/>
            <a:ext cx="219075" cy="21907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tl" dir="2700000" dist="76200">
              <a:schemeClr val="accent1">
                <a:alpha val="2000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8" name="Google Shape;348;p93"/>
          <p:cNvCxnSpPr/>
          <p:nvPr/>
        </p:nvCxnSpPr>
        <p:spPr>
          <a:xfrm>
            <a:off x="8527773" y="3703983"/>
            <a:ext cx="0" cy="1439518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49" name="Google Shape;349;p93"/>
          <p:cNvCxnSpPr/>
          <p:nvPr/>
        </p:nvCxnSpPr>
        <p:spPr>
          <a:xfrm>
            <a:off x="6649277" y="4038600"/>
            <a:ext cx="0" cy="110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50" name="Google Shape;350;p93"/>
          <p:cNvCxnSpPr/>
          <p:nvPr/>
        </p:nvCxnSpPr>
        <p:spPr>
          <a:xfrm>
            <a:off x="5367129" y="4525618"/>
            <a:ext cx="0" cy="617882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51" name="Google Shape;351;p93"/>
          <p:cNvCxnSpPr/>
          <p:nvPr/>
        </p:nvCxnSpPr>
        <p:spPr>
          <a:xfrm>
            <a:off x="3872946" y="4621696"/>
            <a:ext cx="0" cy="521804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52" name="Google Shape;352;p93"/>
          <p:cNvCxnSpPr/>
          <p:nvPr/>
        </p:nvCxnSpPr>
        <p:spPr>
          <a:xfrm>
            <a:off x="2885659" y="4873488"/>
            <a:ext cx="0" cy="270013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53" name="Google Shape;353;p93"/>
          <p:cNvCxnSpPr/>
          <p:nvPr/>
        </p:nvCxnSpPr>
        <p:spPr>
          <a:xfrm>
            <a:off x="1321902" y="5015947"/>
            <a:ext cx="0" cy="127553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e7d195523061f1c074694c8bbf98be7b1e4b015d796375963FD28840057458461C7CA0DAD340D15583DEDFC2E3241C4F392EF3A8B4D067B40CF4F149DD7E51F346B0CAB1BCCF6DB2480C67273C6C9E4C056C4FBD345740721062CE11E543A185471B5A77768547FF895EFC53A478B41CA1B6FA97BD8C0F034C6AADAFCD766316A354503CCFB9576F" id="354" name="Google Shape;354;p93"/>
          <p:cNvSpPr/>
          <p:nvPr/>
        </p:nvSpPr>
        <p:spPr>
          <a:xfrm>
            <a:off x="277803" y="2136632"/>
            <a:ext cx="3088149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056C4FBD345740721062CE11E543A185471B5A77768547FF895EFC53A478B41CA1B6FA97BD8C0F034C6AADAFCD766316A354503CCFB9576F" id="355" name="Google Shape;355;p93"/>
          <p:cNvSpPr/>
          <p:nvPr/>
        </p:nvSpPr>
        <p:spPr>
          <a:xfrm>
            <a:off x="3503286" y="2033334"/>
            <a:ext cx="27252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056C4FBD345740721062CE11E543A185471B5A77768547FF895EFC53A478B41CA1B6FA97BD8C0F034C6AADAFCD766316A354503CCFB9576F" id="356" name="Google Shape;356;p93"/>
          <p:cNvSpPr/>
          <p:nvPr/>
        </p:nvSpPr>
        <p:spPr>
          <a:xfrm>
            <a:off x="6529388" y="2102600"/>
            <a:ext cx="14216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357" name="Google Shape;357;p93"/>
          <p:cNvSpPr txBox="1"/>
          <p:nvPr/>
        </p:nvSpPr>
        <p:spPr>
          <a:xfrm>
            <a:off x="2037588" y="332500"/>
            <a:ext cx="50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Proposed Design CP值計算公式</a:t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3"/>
          <p:cNvSpPr/>
          <p:nvPr/>
        </p:nvSpPr>
        <p:spPr>
          <a:xfrm>
            <a:off x="277800" y="2050825"/>
            <a:ext cx="2840616" cy="893808"/>
          </a:xfrm>
          <a:custGeom>
            <a:rect b="b" l="l" r="r" t="t"/>
            <a:pathLst>
              <a:path extrusionOk="0" h="21600" w="21600">
                <a:moveTo>
                  <a:pt x="1955" y="0"/>
                </a:moveTo>
                <a:cubicBezTo>
                  <a:pt x="19674" y="0"/>
                  <a:pt x="19674" y="0"/>
                  <a:pt x="19674" y="0"/>
                </a:cubicBezTo>
                <a:cubicBezTo>
                  <a:pt x="20727" y="0"/>
                  <a:pt x="21600" y="1213"/>
                  <a:pt x="21600" y="2679"/>
                </a:cubicBezTo>
                <a:cubicBezTo>
                  <a:pt x="21600" y="18879"/>
                  <a:pt x="21600" y="18879"/>
                  <a:pt x="21600" y="18879"/>
                </a:cubicBezTo>
                <a:cubicBezTo>
                  <a:pt x="21600" y="20386"/>
                  <a:pt x="20727" y="21599"/>
                  <a:pt x="19674" y="21599"/>
                </a:cubicBezTo>
                <a:cubicBezTo>
                  <a:pt x="1955" y="21599"/>
                  <a:pt x="1955" y="21599"/>
                  <a:pt x="1955" y="21599"/>
                </a:cubicBezTo>
                <a:cubicBezTo>
                  <a:pt x="872" y="21599"/>
                  <a:pt x="0" y="20386"/>
                  <a:pt x="0" y="18879"/>
                </a:cubicBezTo>
                <a:cubicBezTo>
                  <a:pt x="0" y="2679"/>
                  <a:pt x="0" y="2679"/>
                  <a:pt x="0" y="2679"/>
                </a:cubicBezTo>
                <a:cubicBezTo>
                  <a:pt x="0" y="1213"/>
                  <a:pt x="872" y="0"/>
                  <a:pt x="1955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CP= Σ(Feature × Weight) / Price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93"/>
          <p:cNvSpPr/>
          <p:nvPr/>
        </p:nvSpPr>
        <p:spPr>
          <a:xfrm>
            <a:off x="3527363" y="2050818"/>
            <a:ext cx="2840616" cy="893808"/>
          </a:xfrm>
          <a:custGeom>
            <a:rect b="b" l="l" r="r" t="t"/>
            <a:pathLst>
              <a:path extrusionOk="0" h="21600" w="21600">
                <a:moveTo>
                  <a:pt x="1955" y="0"/>
                </a:moveTo>
                <a:cubicBezTo>
                  <a:pt x="19674" y="0"/>
                  <a:pt x="19674" y="0"/>
                  <a:pt x="19674" y="0"/>
                </a:cubicBezTo>
                <a:cubicBezTo>
                  <a:pt x="20727" y="0"/>
                  <a:pt x="21600" y="1213"/>
                  <a:pt x="21600" y="2679"/>
                </a:cubicBezTo>
                <a:cubicBezTo>
                  <a:pt x="21600" y="18879"/>
                  <a:pt x="21600" y="18879"/>
                  <a:pt x="21600" y="18879"/>
                </a:cubicBezTo>
                <a:cubicBezTo>
                  <a:pt x="21600" y="20386"/>
                  <a:pt x="20727" y="21599"/>
                  <a:pt x="19674" y="21599"/>
                </a:cubicBezTo>
                <a:cubicBezTo>
                  <a:pt x="1955" y="21599"/>
                  <a:pt x="1955" y="21599"/>
                  <a:pt x="1955" y="21599"/>
                </a:cubicBezTo>
                <a:cubicBezTo>
                  <a:pt x="872" y="21599"/>
                  <a:pt x="0" y="20386"/>
                  <a:pt x="0" y="18879"/>
                </a:cubicBezTo>
                <a:cubicBezTo>
                  <a:pt x="0" y="2679"/>
                  <a:pt x="0" y="2679"/>
                  <a:pt x="0" y="2679"/>
                </a:cubicBezTo>
                <a:cubicBezTo>
                  <a:pt x="0" y="1213"/>
                  <a:pt x="872" y="0"/>
                  <a:pt x="1955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每項特徵依重要性給予1~3分權重。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例如：效能(3)、續航(2)、外觀(1)   </a:t>
            </a:r>
            <a:endParaRPr b="0" i="0" sz="1600" u="none" cap="none" strike="noStrike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加權後比較CP值。</a:t>
            </a:r>
            <a:endParaRPr b="0" i="0" sz="1400" u="none" cap="none" strike="noStrike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60" name="Google Shape;360;p93"/>
          <p:cNvSpPr/>
          <p:nvPr/>
        </p:nvSpPr>
        <p:spPr>
          <a:xfrm>
            <a:off x="7203850" y="2050825"/>
            <a:ext cx="1654236" cy="893808"/>
          </a:xfrm>
          <a:custGeom>
            <a:rect b="b" l="l" r="r" t="t"/>
            <a:pathLst>
              <a:path extrusionOk="0" h="21600" w="21600">
                <a:moveTo>
                  <a:pt x="1955" y="0"/>
                </a:moveTo>
                <a:cubicBezTo>
                  <a:pt x="19674" y="0"/>
                  <a:pt x="19674" y="0"/>
                  <a:pt x="19674" y="0"/>
                </a:cubicBezTo>
                <a:cubicBezTo>
                  <a:pt x="20727" y="0"/>
                  <a:pt x="21600" y="1213"/>
                  <a:pt x="21600" y="2679"/>
                </a:cubicBezTo>
                <a:cubicBezTo>
                  <a:pt x="21600" y="18879"/>
                  <a:pt x="21600" y="18879"/>
                  <a:pt x="21600" y="18879"/>
                </a:cubicBezTo>
                <a:cubicBezTo>
                  <a:pt x="21600" y="20386"/>
                  <a:pt x="20727" y="21599"/>
                  <a:pt x="19674" y="21599"/>
                </a:cubicBezTo>
                <a:cubicBezTo>
                  <a:pt x="1955" y="21599"/>
                  <a:pt x="1955" y="21599"/>
                  <a:pt x="1955" y="21599"/>
                </a:cubicBezTo>
                <a:cubicBezTo>
                  <a:pt x="872" y="21599"/>
                  <a:pt x="0" y="20386"/>
                  <a:pt x="0" y="18879"/>
                </a:cubicBezTo>
                <a:cubicBezTo>
                  <a:pt x="0" y="2679"/>
                  <a:pt x="0" y="2679"/>
                  <a:pt x="0" y="2679"/>
                </a:cubicBezTo>
                <a:cubicBezTo>
                  <a:pt x="0" y="1213"/>
                  <a:pt x="872" y="0"/>
                  <a:pt x="1955" y="0"/>
                </a:cubicBezTo>
                <a:close/>
              </a:path>
            </a:pathLst>
          </a:custGeom>
          <a:solidFill>
            <a:srgbClr val="D0E0E3"/>
          </a:solidFill>
          <a:ln>
            <a:noFill/>
          </a:ln>
        </p:spPr>
        <p:txBody>
          <a:bodyPr anchorCtr="0" anchor="ctr" bIns="17125" lIns="17125" spcFirstLastPara="1" rIns="1712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輸出清單及結果</a:t>
            </a:r>
            <a:endParaRPr b="1" i="0" sz="1200" u="none" cap="none" strike="noStrike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61" name="Google Shape;361;p93"/>
          <p:cNvSpPr txBox="1"/>
          <p:nvPr/>
        </p:nvSpPr>
        <p:spPr>
          <a:xfrm>
            <a:off x="6367963" y="2251425"/>
            <a:ext cx="87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15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368" name="Google Shape;368;p15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70" name="Google Shape;370;p15"/>
          <p:cNvSpPr txBox="1"/>
          <p:nvPr/>
        </p:nvSpPr>
        <p:spPr>
          <a:xfrm>
            <a:off x="990600" y="2175975"/>
            <a:ext cx="1275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2514600" y="1848475"/>
            <a:ext cx="655320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Detail Implementation</a:t>
            </a:r>
            <a:endParaRPr b="1" i="0" sz="44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"/>
          <p:cNvSpPr txBox="1"/>
          <p:nvPr/>
        </p:nvSpPr>
        <p:spPr>
          <a:xfrm>
            <a:off x="304800" y="438150"/>
            <a:ext cx="83820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Detail Implementation系統流程</a:t>
            </a:r>
            <a:endParaRPr b="1" i="0" sz="36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16"/>
          <p:cNvSpPr/>
          <p:nvPr/>
        </p:nvSpPr>
        <p:spPr>
          <a:xfrm rot="5400000">
            <a:off x="4506712" y="-1269185"/>
            <a:ext cx="163626" cy="8715375"/>
          </a:xfrm>
          <a:prstGeom prst="can">
            <a:avLst>
              <a:gd fmla="val 25000" name="adj"/>
            </a:avLst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16"/>
          <p:cNvSpPr/>
          <p:nvPr/>
        </p:nvSpPr>
        <p:spPr>
          <a:xfrm rot="5400000">
            <a:off x="755374" y="1792252"/>
            <a:ext cx="1214438" cy="1214438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16"/>
          <p:cNvSpPr/>
          <p:nvPr/>
        </p:nvSpPr>
        <p:spPr>
          <a:xfrm rot="5400000">
            <a:off x="2246036" y="1792252"/>
            <a:ext cx="1214438" cy="1214438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16"/>
          <p:cNvSpPr/>
          <p:nvPr/>
        </p:nvSpPr>
        <p:spPr>
          <a:xfrm rot="5400000">
            <a:off x="3736699" y="1792252"/>
            <a:ext cx="1214438" cy="1214438"/>
          </a:xfrm>
          <a:prstGeom prst="teardrop">
            <a:avLst>
              <a:gd fmla="val 100000" name="adj"/>
            </a:avLst>
          </a:prstGeom>
          <a:solidFill>
            <a:schemeClr val="accent3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16"/>
          <p:cNvSpPr/>
          <p:nvPr/>
        </p:nvSpPr>
        <p:spPr>
          <a:xfrm rot="5400000">
            <a:off x="5227361" y="1792252"/>
            <a:ext cx="1214438" cy="1214438"/>
          </a:xfrm>
          <a:prstGeom prst="teardrop">
            <a:avLst>
              <a:gd fmla="val 100000" name="adj"/>
            </a:avLst>
          </a:prstGeom>
          <a:solidFill>
            <a:schemeClr val="accent5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6"/>
          <p:cNvSpPr/>
          <p:nvPr/>
        </p:nvSpPr>
        <p:spPr>
          <a:xfrm rot="5400000">
            <a:off x="6718024" y="1792252"/>
            <a:ext cx="1214438" cy="1214438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1362593" y="3170317"/>
            <a:ext cx="607219" cy="510733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932251" y="3850643"/>
            <a:ext cx="1276993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輸入2~4種商品</a:t>
            </a:r>
            <a:endParaRPr b="0" i="0" sz="9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2846200" y="3168444"/>
            <a:ext cx="607219" cy="510733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4329808" y="3168444"/>
            <a:ext cx="607219" cy="510733"/>
          </a:xfrm>
          <a:prstGeom prst="teardrop">
            <a:avLst>
              <a:gd fmla="val 100000" name="adj"/>
            </a:avLst>
          </a:prstGeom>
          <a:solidFill>
            <a:schemeClr val="accent3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3994920" y="3850643"/>
            <a:ext cx="1276993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抓出特徵與共通點</a:t>
            </a:r>
            <a:endParaRPr b="0" i="0" sz="9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5813415" y="3166570"/>
            <a:ext cx="607219" cy="510733"/>
          </a:xfrm>
          <a:prstGeom prst="teardrop">
            <a:avLst>
              <a:gd fmla="val 100000" name="adj"/>
            </a:avLst>
          </a:prstGeom>
          <a:solidFill>
            <a:schemeClr val="accent5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5478527" y="3850643"/>
            <a:ext cx="1276993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調整權重後計算結果</a:t>
            </a:r>
            <a:endParaRPr b="0" i="0" sz="9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7297022" y="3170317"/>
            <a:ext cx="607219" cy="510733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6962134" y="3856395"/>
            <a:ext cx="1539136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列出推薦清單及推薦原因</a:t>
            </a:r>
            <a:endParaRPr b="0" i="0" sz="9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796535" y="2187794"/>
            <a:ext cx="113211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使用者輸入商品連結</a:t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16"/>
          <p:cNvSpPr txBox="1"/>
          <p:nvPr/>
        </p:nvSpPr>
        <p:spPr>
          <a:xfrm>
            <a:off x="2316060" y="2208094"/>
            <a:ext cx="113211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系統自動爬取商品資料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16"/>
          <p:cNvSpPr txBox="1"/>
          <p:nvPr/>
        </p:nvSpPr>
        <p:spPr>
          <a:xfrm>
            <a:off x="3786706" y="2184992"/>
            <a:ext cx="1198136" cy="48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NLP</a:t>
            </a: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分析共通特徵</a:t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16"/>
          <p:cNvSpPr txBox="1"/>
          <p:nvPr/>
        </p:nvSpPr>
        <p:spPr>
          <a:xfrm>
            <a:off x="5319796" y="2184992"/>
            <a:ext cx="1132115" cy="48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計算CP</a:t>
            </a: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值與加權結果</a:t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16"/>
          <p:cNvSpPr txBox="1"/>
          <p:nvPr/>
        </p:nvSpPr>
        <p:spPr>
          <a:xfrm>
            <a:off x="6718023" y="2184991"/>
            <a:ext cx="1214439" cy="48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視覺化輸出最佳選項</a:t>
            </a:r>
            <a:r>
              <a:rPr b="0" i="0" lang="en-US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。</a:t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2352850" y="3856437"/>
            <a:ext cx="1593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名稱、價格、規格、評論）</a:t>
            </a:r>
            <a:endParaRPr b="0" i="0" sz="9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94"/>
          <p:cNvGrpSpPr/>
          <p:nvPr/>
        </p:nvGrpSpPr>
        <p:grpSpPr>
          <a:xfrm>
            <a:off x="1410598" y="1541661"/>
            <a:ext cx="6356953" cy="2160241"/>
            <a:chOff x="1572187" y="1998397"/>
            <a:chExt cx="8475937" cy="2880321"/>
          </a:xfrm>
        </p:grpSpPr>
        <p:cxnSp>
          <p:nvCxnSpPr>
            <p:cNvPr id="403" name="Google Shape;403;p94"/>
            <p:cNvCxnSpPr/>
            <p:nvPr/>
          </p:nvCxnSpPr>
          <p:spPr>
            <a:xfrm>
              <a:off x="2626580" y="2373502"/>
              <a:ext cx="2128497" cy="2130111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94"/>
            <p:cNvCxnSpPr/>
            <p:nvPr/>
          </p:nvCxnSpPr>
          <p:spPr>
            <a:xfrm flipH="1">
              <a:off x="1572187" y="2373504"/>
              <a:ext cx="1064251" cy="1065053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94"/>
            <p:cNvCxnSpPr/>
            <p:nvPr/>
          </p:nvCxnSpPr>
          <p:spPr>
            <a:xfrm flipH="1" rot="10800000">
              <a:off x="8973236" y="3438560"/>
              <a:ext cx="1064251" cy="1065053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" name="Google Shape;406;p94"/>
            <p:cNvCxnSpPr/>
            <p:nvPr/>
          </p:nvCxnSpPr>
          <p:spPr>
            <a:xfrm flipH="1">
              <a:off x="4742510" y="2373502"/>
              <a:ext cx="2128497" cy="2130111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p94"/>
            <p:cNvCxnSpPr/>
            <p:nvPr/>
          </p:nvCxnSpPr>
          <p:spPr>
            <a:xfrm>
              <a:off x="6857429" y="2373502"/>
              <a:ext cx="2128497" cy="2130111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08" name="Google Shape;408;p94"/>
            <p:cNvGrpSpPr/>
            <p:nvPr/>
          </p:nvGrpSpPr>
          <p:grpSpPr>
            <a:xfrm>
              <a:off x="1588805" y="2766483"/>
              <a:ext cx="2110635" cy="2112235"/>
              <a:chOff x="1369994" y="2067694"/>
              <a:chExt cx="1584176" cy="1584176"/>
            </a:xfrm>
          </p:grpSpPr>
          <p:sp>
            <p:nvSpPr>
              <p:cNvPr id="409" name="Google Shape;409;p94"/>
              <p:cNvSpPr/>
              <p:nvPr/>
            </p:nvSpPr>
            <p:spPr>
              <a:xfrm>
                <a:off x="1369994" y="2067694"/>
                <a:ext cx="1584176" cy="1584176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99"/>
                  <a:buFont typeface="Arial"/>
                  <a:buNone/>
                </a:pPr>
                <a:r>
                  <a:t/>
                </a:r>
                <a:endParaRPr b="0" i="0" sz="1799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10" name="Google Shape;410;p94"/>
              <p:cNvSpPr txBox="1"/>
              <p:nvPr/>
            </p:nvSpPr>
            <p:spPr>
              <a:xfrm flipH="1">
                <a:off x="1773049" y="2728004"/>
                <a:ext cx="906704" cy="276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互動介面</a:t>
                </a:r>
                <a:endParaRPr b="1" i="0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11" name="Google Shape;411;p94"/>
            <p:cNvGrpSpPr/>
            <p:nvPr/>
          </p:nvGrpSpPr>
          <p:grpSpPr>
            <a:xfrm>
              <a:off x="3717204" y="1998397"/>
              <a:ext cx="2110635" cy="2112235"/>
              <a:chOff x="3029144" y="1491630"/>
              <a:chExt cx="1584176" cy="1584176"/>
            </a:xfrm>
          </p:grpSpPr>
          <p:sp>
            <p:nvSpPr>
              <p:cNvPr id="412" name="Google Shape;412;p94"/>
              <p:cNvSpPr/>
              <p:nvPr/>
            </p:nvSpPr>
            <p:spPr>
              <a:xfrm>
                <a:off x="3029144" y="1491630"/>
                <a:ext cx="1584176" cy="1584176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99"/>
                  <a:buFont typeface="Arial"/>
                  <a:buNone/>
                </a:pPr>
                <a:r>
                  <a:t/>
                </a:r>
                <a:endParaRPr b="0" i="0" sz="1799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13" name="Google Shape;413;p94"/>
              <p:cNvSpPr txBox="1"/>
              <p:nvPr/>
            </p:nvSpPr>
            <p:spPr>
              <a:xfrm flipH="1">
                <a:off x="3447029" y="2140608"/>
                <a:ext cx="906704" cy="276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爬蟲擷取</a:t>
                </a:r>
                <a:endParaRPr b="1" i="0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14" name="Google Shape;414;p94"/>
            <p:cNvGrpSpPr/>
            <p:nvPr/>
          </p:nvGrpSpPr>
          <p:grpSpPr>
            <a:xfrm>
              <a:off x="5834728" y="2766483"/>
              <a:ext cx="2110635" cy="2112235"/>
              <a:chOff x="4577170" y="2067694"/>
              <a:chExt cx="1584176" cy="1584176"/>
            </a:xfrm>
          </p:grpSpPr>
          <p:sp>
            <p:nvSpPr>
              <p:cNvPr id="415" name="Google Shape;415;p94"/>
              <p:cNvSpPr/>
              <p:nvPr/>
            </p:nvSpPr>
            <p:spPr>
              <a:xfrm>
                <a:off x="4577170" y="2067694"/>
                <a:ext cx="1584176" cy="1584176"/>
              </a:xfrm>
              <a:prstGeom prst="diamond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99"/>
                  <a:buFont typeface="Arial"/>
                  <a:buNone/>
                </a:pPr>
                <a:r>
                  <a:t/>
                </a:r>
                <a:endParaRPr b="0" i="0" sz="1799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16" name="Google Shape;416;p94"/>
              <p:cNvSpPr txBox="1"/>
              <p:nvPr/>
            </p:nvSpPr>
            <p:spPr>
              <a:xfrm flipH="1">
                <a:off x="4986907" y="2721302"/>
                <a:ext cx="817341" cy="276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語意理解</a:t>
                </a:r>
                <a:endParaRPr b="1" i="0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17" name="Google Shape;417;p94"/>
            <p:cNvGrpSpPr/>
            <p:nvPr/>
          </p:nvGrpSpPr>
          <p:grpSpPr>
            <a:xfrm>
              <a:off x="7937489" y="1998397"/>
              <a:ext cx="2110635" cy="2112235"/>
              <a:chOff x="6145277" y="1491630"/>
              <a:chExt cx="1584176" cy="1584176"/>
            </a:xfrm>
          </p:grpSpPr>
          <p:sp>
            <p:nvSpPr>
              <p:cNvPr id="418" name="Google Shape;418;p94"/>
              <p:cNvSpPr/>
              <p:nvPr/>
            </p:nvSpPr>
            <p:spPr>
              <a:xfrm>
                <a:off x="6145277" y="1491630"/>
                <a:ext cx="1584176" cy="1584176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99"/>
                  <a:buFont typeface="Arial"/>
                  <a:buNone/>
                </a:pPr>
                <a:r>
                  <a:t/>
                </a:r>
                <a:endParaRPr b="0" i="0" sz="1799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19" name="Google Shape;419;p94"/>
              <p:cNvSpPr txBox="1"/>
              <p:nvPr/>
            </p:nvSpPr>
            <p:spPr>
              <a:xfrm flipH="1">
                <a:off x="6502374" y="2138536"/>
                <a:ext cx="1059169" cy="276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統計與圖表</a:t>
                </a:r>
                <a:endParaRPr b="1" i="0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420" name="Google Shape;420;p94"/>
          <p:cNvSpPr txBox="1"/>
          <p:nvPr/>
        </p:nvSpPr>
        <p:spPr>
          <a:xfrm>
            <a:off x="1536100" y="3792850"/>
            <a:ext cx="160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Python + </a:t>
            </a:r>
            <a:r>
              <a:rPr b="1" i="0" lang="en-US" sz="11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Streamlit</a:t>
            </a:r>
            <a:r>
              <a:rPr b="1" i="0" lang="en-US" sz="105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94"/>
          <p:cNvSpPr txBox="1"/>
          <p:nvPr/>
        </p:nvSpPr>
        <p:spPr>
          <a:xfrm>
            <a:off x="2604107" y="1154962"/>
            <a:ext cx="238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BeautifulSoup / Selenium </a:t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94"/>
          <p:cNvSpPr txBox="1"/>
          <p:nvPr/>
        </p:nvSpPr>
        <p:spPr>
          <a:xfrm>
            <a:off x="4723801" y="3780884"/>
            <a:ext cx="1463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needOpenAI API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4"/>
          <p:cNvSpPr txBox="1"/>
          <p:nvPr/>
        </p:nvSpPr>
        <p:spPr>
          <a:xfrm>
            <a:off x="6052067" y="1159354"/>
            <a:ext cx="1932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Pandas + Matplotlib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94"/>
          <p:cNvSpPr/>
          <p:nvPr/>
        </p:nvSpPr>
        <p:spPr>
          <a:xfrm>
            <a:off x="257616" y="365494"/>
            <a:ext cx="3530724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Detail Implementation技術與工具</a:t>
            </a:r>
            <a:endParaRPr b="1" i="0" sz="14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8"/>
          <p:cNvGrpSpPr/>
          <p:nvPr/>
        </p:nvGrpSpPr>
        <p:grpSpPr>
          <a:xfrm rot="2071208">
            <a:off x="435283" y="809221"/>
            <a:ext cx="3534846" cy="4217301"/>
            <a:chOff x="5189373" y="956689"/>
            <a:chExt cx="4504157" cy="5373412"/>
          </a:xfrm>
        </p:grpSpPr>
        <p:grpSp>
          <p:nvGrpSpPr>
            <p:cNvPr id="430" name="Google Shape;430;p18"/>
            <p:cNvGrpSpPr/>
            <p:nvPr/>
          </p:nvGrpSpPr>
          <p:grpSpPr>
            <a:xfrm rot="4351113">
              <a:off x="5139990" y="2007095"/>
              <a:ext cx="4602922" cy="3272600"/>
              <a:chOff x="786304" y="908720"/>
              <a:chExt cx="7310424" cy="5174821"/>
            </a:xfrm>
          </p:grpSpPr>
          <p:sp>
            <p:nvSpPr>
              <p:cNvPr id="431" name="Google Shape;431;p18"/>
              <p:cNvSpPr/>
              <p:nvPr/>
            </p:nvSpPr>
            <p:spPr>
              <a:xfrm rot="-2853595">
                <a:off x="3554195" y="1119903"/>
                <a:ext cx="1014413" cy="1003300"/>
              </a:xfrm>
              <a:custGeom>
                <a:rect b="b" l="l" r="r" t="t"/>
                <a:pathLst>
                  <a:path extrusionOk="0" fill="none" h="21356" w="21600">
                    <a:moveTo>
                      <a:pt x="3237" y="-1"/>
                    </a:moveTo>
                    <a:cubicBezTo>
                      <a:pt x="13795" y="1600"/>
                      <a:pt x="21600" y="10676"/>
                      <a:pt x="21600" y="21356"/>
                    </a:cubicBezTo>
                  </a:path>
                  <a:path extrusionOk="0" h="21356" w="21600">
                    <a:moveTo>
                      <a:pt x="3237" y="-1"/>
                    </a:moveTo>
                    <a:cubicBezTo>
                      <a:pt x="13795" y="1600"/>
                      <a:pt x="21600" y="10676"/>
                      <a:pt x="21600" y="21356"/>
                    </a:cubicBezTo>
                    <a:lnTo>
                      <a:pt x="0" y="21356"/>
                    </a:lnTo>
                    <a:lnTo>
                      <a:pt x="3237" y="-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7F7F7F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9"/>
                  <a:buFont typeface="Arial"/>
                  <a:buNone/>
                </a:pPr>
                <a:r>
                  <a:t/>
                </a:r>
                <a:endParaRPr b="0" i="0" sz="1829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2" name="Google Shape;432;p18"/>
              <p:cNvSpPr/>
              <p:nvPr/>
            </p:nvSpPr>
            <p:spPr>
              <a:xfrm rot="-324743">
                <a:off x="4204278" y="1579484"/>
                <a:ext cx="2628900" cy="2630487"/>
              </a:xfrm>
              <a:custGeom>
                <a:rect b="b" l="l" r="r" t="t"/>
                <a:pathLst>
                  <a:path extrusionOk="0" h="1816" w="1816">
                    <a:moveTo>
                      <a:pt x="1816" y="978"/>
                    </a:moveTo>
                    <a:lnTo>
                      <a:pt x="1816" y="836"/>
                    </a:lnTo>
                    <a:lnTo>
                      <a:pt x="1710" y="836"/>
                    </a:lnTo>
                    <a:lnTo>
                      <a:pt x="1706" y="792"/>
                    </a:lnTo>
                    <a:lnTo>
                      <a:pt x="1698" y="750"/>
                    </a:lnTo>
                    <a:lnTo>
                      <a:pt x="1688" y="708"/>
                    </a:lnTo>
                    <a:lnTo>
                      <a:pt x="1678" y="666"/>
                    </a:lnTo>
                    <a:lnTo>
                      <a:pt x="1774" y="626"/>
                    </a:lnTo>
                    <a:lnTo>
                      <a:pt x="1718" y="494"/>
                    </a:lnTo>
                    <a:lnTo>
                      <a:pt x="1622" y="534"/>
                    </a:lnTo>
                    <a:lnTo>
                      <a:pt x="1602" y="496"/>
                    </a:lnTo>
                    <a:lnTo>
                      <a:pt x="1578" y="460"/>
                    </a:lnTo>
                    <a:lnTo>
                      <a:pt x="1552" y="424"/>
                    </a:lnTo>
                    <a:lnTo>
                      <a:pt x="1526" y="390"/>
                    </a:lnTo>
                    <a:lnTo>
                      <a:pt x="1600" y="316"/>
                    </a:lnTo>
                    <a:lnTo>
                      <a:pt x="1498" y="216"/>
                    </a:lnTo>
                    <a:lnTo>
                      <a:pt x="1426" y="290"/>
                    </a:lnTo>
                    <a:lnTo>
                      <a:pt x="1392" y="262"/>
                    </a:lnTo>
                    <a:lnTo>
                      <a:pt x="1356" y="236"/>
                    </a:lnTo>
                    <a:lnTo>
                      <a:pt x="1318" y="214"/>
                    </a:lnTo>
                    <a:lnTo>
                      <a:pt x="1280" y="192"/>
                    </a:lnTo>
                    <a:lnTo>
                      <a:pt x="1320" y="96"/>
                    </a:lnTo>
                    <a:lnTo>
                      <a:pt x="1188" y="42"/>
                    </a:lnTo>
                    <a:lnTo>
                      <a:pt x="1150" y="138"/>
                    </a:lnTo>
                    <a:lnTo>
                      <a:pt x="1108" y="126"/>
                    </a:lnTo>
                    <a:lnTo>
                      <a:pt x="1066" y="116"/>
                    </a:lnTo>
                    <a:lnTo>
                      <a:pt x="1022" y="110"/>
                    </a:lnTo>
                    <a:lnTo>
                      <a:pt x="978" y="104"/>
                    </a:lnTo>
                    <a:lnTo>
                      <a:pt x="978" y="0"/>
                    </a:lnTo>
                    <a:lnTo>
                      <a:pt x="836" y="0"/>
                    </a:lnTo>
                    <a:lnTo>
                      <a:pt x="836" y="104"/>
                    </a:lnTo>
                    <a:lnTo>
                      <a:pt x="792" y="110"/>
                    </a:lnTo>
                    <a:lnTo>
                      <a:pt x="750" y="116"/>
                    </a:lnTo>
                    <a:lnTo>
                      <a:pt x="706" y="126"/>
                    </a:lnTo>
                    <a:lnTo>
                      <a:pt x="666" y="138"/>
                    </a:lnTo>
                    <a:lnTo>
                      <a:pt x="626" y="42"/>
                    </a:lnTo>
                    <a:lnTo>
                      <a:pt x="494" y="96"/>
                    </a:lnTo>
                    <a:lnTo>
                      <a:pt x="534" y="192"/>
                    </a:lnTo>
                    <a:lnTo>
                      <a:pt x="496" y="214"/>
                    </a:lnTo>
                    <a:lnTo>
                      <a:pt x="460" y="236"/>
                    </a:lnTo>
                    <a:lnTo>
                      <a:pt x="424" y="262"/>
                    </a:lnTo>
                    <a:lnTo>
                      <a:pt x="390" y="290"/>
                    </a:lnTo>
                    <a:lnTo>
                      <a:pt x="316" y="216"/>
                    </a:lnTo>
                    <a:lnTo>
                      <a:pt x="216" y="316"/>
                    </a:lnTo>
                    <a:lnTo>
                      <a:pt x="288" y="390"/>
                    </a:lnTo>
                    <a:lnTo>
                      <a:pt x="262" y="424"/>
                    </a:lnTo>
                    <a:lnTo>
                      <a:pt x="236" y="460"/>
                    </a:lnTo>
                    <a:lnTo>
                      <a:pt x="214" y="496"/>
                    </a:lnTo>
                    <a:lnTo>
                      <a:pt x="192" y="534"/>
                    </a:lnTo>
                    <a:lnTo>
                      <a:pt x="96" y="494"/>
                    </a:lnTo>
                    <a:lnTo>
                      <a:pt x="42" y="626"/>
                    </a:lnTo>
                    <a:lnTo>
                      <a:pt x="138" y="666"/>
                    </a:lnTo>
                    <a:lnTo>
                      <a:pt x="126" y="708"/>
                    </a:lnTo>
                    <a:lnTo>
                      <a:pt x="116" y="750"/>
                    </a:lnTo>
                    <a:lnTo>
                      <a:pt x="108" y="792"/>
                    </a:lnTo>
                    <a:lnTo>
                      <a:pt x="104" y="836"/>
                    </a:lnTo>
                    <a:lnTo>
                      <a:pt x="0" y="836"/>
                    </a:lnTo>
                    <a:lnTo>
                      <a:pt x="0" y="978"/>
                    </a:lnTo>
                    <a:lnTo>
                      <a:pt x="104" y="978"/>
                    </a:lnTo>
                    <a:lnTo>
                      <a:pt x="108" y="1022"/>
                    </a:lnTo>
                    <a:lnTo>
                      <a:pt x="116" y="1066"/>
                    </a:lnTo>
                    <a:lnTo>
                      <a:pt x="126" y="1108"/>
                    </a:lnTo>
                    <a:lnTo>
                      <a:pt x="138" y="1150"/>
                    </a:lnTo>
                    <a:lnTo>
                      <a:pt x="42" y="1190"/>
                    </a:lnTo>
                    <a:lnTo>
                      <a:pt x="96" y="1320"/>
                    </a:lnTo>
                    <a:lnTo>
                      <a:pt x="192" y="1280"/>
                    </a:lnTo>
                    <a:lnTo>
                      <a:pt x="214" y="1320"/>
                    </a:lnTo>
                    <a:lnTo>
                      <a:pt x="236" y="1356"/>
                    </a:lnTo>
                    <a:lnTo>
                      <a:pt x="262" y="1392"/>
                    </a:lnTo>
                    <a:lnTo>
                      <a:pt x="288" y="1426"/>
                    </a:lnTo>
                    <a:lnTo>
                      <a:pt x="216" y="1500"/>
                    </a:lnTo>
                    <a:lnTo>
                      <a:pt x="316" y="1600"/>
                    </a:lnTo>
                    <a:lnTo>
                      <a:pt x="390" y="1526"/>
                    </a:lnTo>
                    <a:lnTo>
                      <a:pt x="424" y="1554"/>
                    </a:lnTo>
                    <a:lnTo>
                      <a:pt x="460" y="1578"/>
                    </a:lnTo>
                    <a:lnTo>
                      <a:pt x="496" y="1602"/>
                    </a:lnTo>
                    <a:lnTo>
                      <a:pt x="534" y="1622"/>
                    </a:lnTo>
                    <a:lnTo>
                      <a:pt x="494" y="1718"/>
                    </a:lnTo>
                    <a:lnTo>
                      <a:pt x="626" y="1774"/>
                    </a:lnTo>
                    <a:lnTo>
                      <a:pt x="666" y="1678"/>
                    </a:lnTo>
                    <a:lnTo>
                      <a:pt x="706" y="1690"/>
                    </a:lnTo>
                    <a:lnTo>
                      <a:pt x="750" y="1698"/>
                    </a:lnTo>
                    <a:lnTo>
                      <a:pt x="792" y="1706"/>
                    </a:lnTo>
                    <a:lnTo>
                      <a:pt x="836" y="1712"/>
                    </a:lnTo>
                    <a:lnTo>
                      <a:pt x="836" y="1816"/>
                    </a:lnTo>
                    <a:lnTo>
                      <a:pt x="978" y="1816"/>
                    </a:lnTo>
                    <a:lnTo>
                      <a:pt x="978" y="1712"/>
                    </a:lnTo>
                    <a:lnTo>
                      <a:pt x="1022" y="1706"/>
                    </a:lnTo>
                    <a:lnTo>
                      <a:pt x="1066" y="1698"/>
                    </a:lnTo>
                    <a:lnTo>
                      <a:pt x="1108" y="1690"/>
                    </a:lnTo>
                    <a:lnTo>
                      <a:pt x="1150" y="1678"/>
                    </a:lnTo>
                    <a:lnTo>
                      <a:pt x="1188" y="1774"/>
                    </a:lnTo>
                    <a:lnTo>
                      <a:pt x="1320" y="1718"/>
                    </a:lnTo>
                    <a:lnTo>
                      <a:pt x="1280" y="1622"/>
                    </a:lnTo>
                    <a:lnTo>
                      <a:pt x="1318" y="1602"/>
                    </a:lnTo>
                    <a:lnTo>
                      <a:pt x="1356" y="1578"/>
                    </a:lnTo>
                    <a:lnTo>
                      <a:pt x="1392" y="1554"/>
                    </a:lnTo>
                    <a:lnTo>
                      <a:pt x="1426" y="1526"/>
                    </a:lnTo>
                    <a:lnTo>
                      <a:pt x="1498" y="1600"/>
                    </a:lnTo>
                    <a:lnTo>
                      <a:pt x="1600" y="1500"/>
                    </a:lnTo>
                    <a:lnTo>
                      <a:pt x="1526" y="1426"/>
                    </a:lnTo>
                    <a:lnTo>
                      <a:pt x="1552" y="1392"/>
                    </a:lnTo>
                    <a:lnTo>
                      <a:pt x="1578" y="1356"/>
                    </a:lnTo>
                    <a:lnTo>
                      <a:pt x="1602" y="1320"/>
                    </a:lnTo>
                    <a:lnTo>
                      <a:pt x="1622" y="1280"/>
                    </a:lnTo>
                    <a:lnTo>
                      <a:pt x="1718" y="1320"/>
                    </a:lnTo>
                    <a:lnTo>
                      <a:pt x="1774" y="1190"/>
                    </a:lnTo>
                    <a:lnTo>
                      <a:pt x="1678" y="1150"/>
                    </a:lnTo>
                    <a:lnTo>
                      <a:pt x="1688" y="1108"/>
                    </a:lnTo>
                    <a:lnTo>
                      <a:pt x="1698" y="1066"/>
                    </a:lnTo>
                    <a:lnTo>
                      <a:pt x="1706" y="1022"/>
                    </a:lnTo>
                    <a:lnTo>
                      <a:pt x="1710" y="978"/>
                    </a:lnTo>
                    <a:lnTo>
                      <a:pt x="1816" y="978"/>
                    </a:lnTo>
                    <a:close/>
                    <a:moveTo>
                      <a:pt x="908" y="1614"/>
                    </a:moveTo>
                    <a:lnTo>
                      <a:pt x="908" y="1614"/>
                    </a:lnTo>
                    <a:lnTo>
                      <a:pt x="872" y="1612"/>
                    </a:lnTo>
                    <a:lnTo>
                      <a:pt x="836" y="1610"/>
                    </a:lnTo>
                    <a:lnTo>
                      <a:pt x="800" y="1606"/>
                    </a:lnTo>
                    <a:lnTo>
                      <a:pt x="766" y="1600"/>
                    </a:lnTo>
                    <a:lnTo>
                      <a:pt x="730" y="1592"/>
                    </a:lnTo>
                    <a:lnTo>
                      <a:pt x="698" y="1582"/>
                    </a:lnTo>
                    <a:lnTo>
                      <a:pt x="664" y="1570"/>
                    </a:lnTo>
                    <a:lnTo>
                      <a:pt x="632" y="1558"/>
                    </a:lnTo>
                    <a:lnTo>
                      <a:pt x="602" y="1544"/>
                    </a:lnTo>
                    <a:lnTo>
                      <a:pt x="570" y="1528"/>
                    </a:lnTo>
                    <a:lnTo>
                      <a:pt x="542" y="1512"/>
                    </a:lnTo>
                    <a:lnTo>
                      <a:pt x="512" y="1492"/>
                    </a:lnTo>
                    <a:lnTo>
                      <a:pt x="484" y="1474"/>
                    </a:lnTo>
                    <a:lnTo>
                      <a:pt x="458" y="1452"/>
                    </a:lnTo>
                    <a:lnTo>
                      <a:pt x="432" y="1430"/>
                    </a:lnTo>
                    <a:lnTo>
                      <a:pt x="408" y="1406"/>
                    </a:lnTo>
                    <a:lnTo>
                      <a:pt x="384" y="1382"/>
                    </a:lnTo>
                    <a:lnTo>
                      <a:pt x="362" y="1356"/>
                    </a:lnTo>
                    <a:lnTo>
                      <a:pt x="342" y="1330"/>
                    </a:lnTo>
                    <a:lnTo>
                      <a:pt x="322" y="1302"/>
                    </a:lnTo>
                    <a:lnTo>
                      <a:pt x="304" y="1274"/>
                    </a:lnTo>
                    <a:lnTo>
                      <a:pt x="286" y="1244"/>
                    </a:lnTo>
                    <a:lnTo>
                      <a:pt x="272" y="1214"/>
                    </a:lnTo>
                    <a:lnTo>
                      <a:pt x="256" y="1182"/>
                    </a:lnTo>
                    <a:lnTo>
                      <a:pt x="244" y="1150"/>
                    </a:lnTo>
                    <a:lnTo>
                      <a:pt x="234" y="1118"/>
                    </a:lnTo>
                    <a:lnTo>
                      <a:pt x="224" y="1084"/>
                    </a:lnTo>
                    <a:lnTo>
                      <a:pt x="216" y="1050"/>
                    </a:lnTo>
                    <a:lnTo>
                      <a:pt x="210" y="1016"/>
                    </a:lnTo>
                    <a:lnTo>
                      <a:pt x="206" y="980"/>
                    </a:lnTo>
                    <a:lnTo>
                      <a:pt x="202" y="944"/>
                    </a:lnTo>
                    <a:lnTo>
                      <a:pt x="202" y="908"/>
                    </a:lnTo>
                    <a:lnTo>
                      <a:pt x="202" y="872"/>
                    </a:lnTo>
                    <a:lnTo>
                      <a:pt x="206" y="836"/>
                    </a:lnTo>
                    <a:lnTo>
                      <a:pt x="210" y="800"/>
                    </a:lnTo>
                    <a:lnTo>
                      <a:pt x="216" y="766"/>
                    </a:lnTo>
                    <a:lnTo>
                      <a:pt x="224" y="732"/>
                    </a:lnTo>
                    <a:lnTo>
                      <a:pt x="234" y="698"/>
                    </a:lnTo>
                    <a:lnTo>
                      <a:pt x="244" y="664"/>
                    </a:lnTo>
                    <a:lnTo>
                      <a:pt x="256" y="632"/>
                    </a:lnTo>
                    <a:lnTo>
                      <a:pt x="272" y="602"/>
                    </a:lnTo>
                    <a:lnTo>
                      <a:pt x="286" y="572"/>
                    </a:lnTo>
                    <a:lnTo>
                      <a:pt x="304" y="542"/>
                    </a:lnTo>
                    <a:lnTo>
                      <a:pt x="322" y="512"/>
                    </a:lnTo>
                    <a:lnTo>
                      <a:pt x="342" y="486"/>
                    </a:lnTo>
                    <a:lnTo>
                      <a:pt x="362" y="458"/>
                    </a:lnTo>
                    <a:lnTo>
                      <a:pt x="384" y="432"/>
                    </a:lnTo>
                    <a:lnTo>
                      <a:pt x="408" y="408"/>
                    </a:lnTo>
                    <a:lnTo>
                      <a:pt x="432" y="386"/>
                    </a:lnTo>
                    <a:lnTo>
                      <a:pt x="458" y="362"/>
                    </a:lnTo>
                    <a:lnTo>
                      <a:pt x="484" y="342"/>
                    </a:lnTo>
                    <a:lnTo>
                      <a:pt x="512" y="322"/>
                    </a:lnTo>
                    <a:lnTo>
                      <a:pt x="542" y="304"/>
                    </a:lnTo>
                    <a:lnTo>
                      <a:pt x="570" y="286"/>
                    </a:lnTo>
                    <a:lnTo>
                      <a:pt x="602" y="272"/>
                    </a:lnTo>
                    <a:lnTo>
                      <a:pt x="632" y="258"/>
                    </a:lnTo>
                    <a:lnTo>
                      <a:pt x="664" y="244"/>
                    </a:lnTo>
                    <a:lnTo>
                      <a:pt x="698" y="234"/>
                    </a:lnTo>
                    <a:lnTo>
                      <a:pt x="730" y="224"/>
                    </a:lnTo>
                    <a:lnTo>
                      <a:pt x="766" y="216"/>
                    </a:lnTo>
                    <a:lnTo>
                      <a:pt x="800" y="210"/>
                    </a:lnTo>
                    <a:lnTo>
                      <a:pt x="836" y="206"/>
                    </a:lnTo>
                    <a:lnTo>
                      <a:pt x="872" y="202"/>
                    </a:lnTo>
                    <a:lnTo>
                      <a:pt x="908" y="202"/>
                    </a:lnTo>
                    <a:lnTo>
                      <a:pt x="944" y="202"/>
                    </a:lnTo>
                    <a:lnTo>
                      <a:pt x="980" y="206"/>
                    </a:lnTo>
                    <a:lnTo>
                      <a:pt x="1014" y="210"/>
                    </a:lnTo>
                    <a:lnTo>
                      <a:pt x="1050" y="216"/>
                    </a:lnTo>
                    <a:lnTo>
                      <a:pt x="1084" y="224"/>
                    </a:lnTo>
                    <a:lnTo>
                      <a:pt x="1118" y="234"/>
                    </a:lnTo>
                    <a:lnTo>
                      <a:pt x="1150" y="244"/>
                    </a:lnTo>
                    <a:lnTo>
                      <a:pt x="1182" y="258"/>
                    </a:lnTo>
                    <a:lnTo>
                      <a:pt x="1214" y="272"/>
                    </a:lnTo>
                    <a:lnTo>
                      <a:pt x="1244" y="286"/>
                    </a:lnTo>
                    <a:lnTo>
                      <a:pt x="1274" y="304"/>
                    </a:lnTo>
                    <a:lnTo>
                      <a:pt x="1302" y="322"/>
                    </a:lnTo>
                    <a:lnTo>
                      <a:pt x="1330" y="342"/>
                    </a:lnTo>
                    <a:lnTo>
                      <a:pt x="1356" y="362"/>
                    </a:lnTo>
                    <a:lnTo>
                      <a:pt x="1382" y="386"/>
                    </a:lnTo>
                    <a:lnTo>
                      <a:pt x="1406" y="408"/>
                    </a:lnTo>
                    <a:lnTo>
                      <a:pt x="1430" y="432"/>
                    </a:lnTo>
                    <a:lnTo>
                      <a:pt x="1452" y="458"/>
                    </a:lnTo>
                    <a:lnTo>
                      <a:pt x="1474" y="486"/>
                    </a:lnTo>
                    <a:lnTo>
                      <a:pt x="1492" y="512"/>
                    </a:lnTo>
                    <a:lnTo>
                      <a:pt x="1512" y="542"/>
                    </a:lnTo>
                    <a:lnTo>
                      <a:pt x="1528" y="572"/>
                    </a:lnTo>
                    <a:lnTo>
                      <a:pt x="1544" y="602"/>
                    </a:lnTo>
                    <a:lnTo>
                      <a:pt x="1558" y="632"/>
                    </a:lnTo>
                    <a:lnTo>
                      <a:pt x="1570" y="664"/>
                    </a:lnTo>
                    <a:lnTo>
                      <a:pt x="1582" y="698"/>
                    </a:lnTo>
                    <a:lnTo>
                      <a:pt x="1592" y="732"/>
                    </a:lnTo>
                    <a:lnTo>
                      <a:pt x="1598" y="766"/>
                    </a:lnTo>
                    <a:lnTo>
                      <a:pt x="1606" y="800"/>
                    </a:lnTo>
                    <a:lnTo>
                      <a:pt x="1610" y="836"/>
                    </a:lnTo>
                    <a:lnTo>
                      <a:pt x="1612" y="872"/>
                    </a:lnTo>
                    <a:lnTo>
                      <a:pt x="1614" y="908"/>
                    </a:lnTo>
                    <a:lnTo>
                      <a:pt x="1612" y="944"/>
                    </a:lnTo>
                    <a:lnTo>
                      <a:pt x="1610" y="980"/>
                    </a:lnTo>
                    <a:lnTo>
                      <a:pt x="1606" y="1016"/>
                    </a:lnTo>
                    <a:lnTo>
                      <a:pt x="1598" y="1050"/>
                    </a:lnTo>
                    <a:lnTo>
                      <a:pt x="1592" y="1084"/>
                    </a:lnTo>
                    <a:lnTo>
                      <a:pt x="1582" y="1118"/>
                    </a:lnTo>
                    <a:lnTo>
                      <a:pt x="1570" y="1150"/>
                    </a:lnTo>
                    <a:lnTo>
                      <a:pt x="1558" y="1182"/>
                    </a:lnTo>
                    <a:lnTo>
                      <a:pt x="1544" y="1214"/>
                    </a:lnTo>
                    <a:lnTo>
                      <a:pt x="1528" y="1244"/>
                    </a:lnTo>
                    <a:lnTo>
                      <a:pt x="1512" y="1274"/>
                    </a:lnTo>
                    <a:lnTo>
                      <a:pt x="1492" y="1302"/>
                    </a:lnTo>
                    <a:lnTo>
                      <a:pt x="1474" y="1330"/>
                    </a:lnTo>
                    <a:lnTo>
                      <a:pt x="1452" y="1356"/>
                    </a:lnTo>
                    <a:lnTo>
                      <a:pt x="1430" y="1382"/>
                    </a:lnTo>
                    <a:lnTo>
                      <a:pt x="1406" y="1406"/>
                    </a:lnTo>
                    <a:lnTo>
                      <a:pt x="1382" y="1430"/>
                    </a:lnTo>
                    <a:lnTo>
                      <a:pt x="1356" y="1452"/>
                    </a:lnTo>
                    <a:lnTo>
                      <a:pt x="1330" y="1474"/>
                    </a:lnTo>
                    <a:lnTo>
                      <a:pt x="1302" y="1492"/>
                    </a:lnTo>
                    <a:lnTo>
                      <a:pt x="1274" y="1512"/>
                    </a:lnTo>
                    <a:lnTo>
                      <a:pt x="1244" y="1528"/>
                    </a:lnTo>
                    <a:lnTo>
                      <a:pt x="1214" y="1544"/>
                    </a:lnTo>
                    <a:lnTo>
                      <a:pt x="1182" y="1558"/>
                    </a:lnTo>
                    <a:lnTo>
                      <a:pt x="1150" y="1570"/>
                    </a:lnTo>
                    <a:lnTo>
                      <a:pt x="1118" y="1582"/>
                    </a:lnTo>
                    <a:lnTo>
                      <a:pt x="1084" y="1592"/>
                    </a:lnTo>
                    <a:lnTo>
                      <a:pt x="1050" y="1600"/>
                    </a:lnTo>
                    <a:lnTo>
                      <a:pt x="1014" y="1606"/>
                    </a:lnTo>
                    <a:lnTo>
                      <a:pt x="980" y="1610"/>
                    </a:lnTo>
                    <a:lnTo>
                      <a:pt x="944" y="1612"/>
                    </a:lnTo>
                    <a:lnTo>
                      <a:pt x="908" y="161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9"/>
                  <a:buFont typeface="Arial"/>
                  <a:buNone/>
                </a:pPr>
                <a:r>
                  <a:t/>
                </a:r>
                <a:endParaRPr b="0" i="0" sz="1829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3" name="Google Shape;433;p18"/>
              <p:cNvSpPr/>
              <p:nvPr/>
            </p:nvSpPr>
            <p:spPr>
              <a:xfrm rot="-324743">
                <a:off x="940378" y="1649334"/>
                <a:ext cx="3429000" cy="3429000"/>
              </a:xfrm>
              <a:custGeom>
                <a:rect b="b" l="l" r="r" t="t"/>
                <a:pathLst>
                  <a:path extrusionOk="0" h="2622" w="2622">
                    <a:moveTo>
                      <a:pt x="2622" y="1382"/>
                    </a:moveTo>
                    <a:lnTo>
                      <a:pt x="2622" y="1240"/>
                    </a:lnTo>
                    <a:lnTo>
                      <a:pt x="2520" y="1240"/>
                    </a:lnTo>
                    <a:lnTo>
                      <a:pt x="2516" y="1196"/>
                    </a:lnTo>
                    <a:lnTo>
                      <a:pt x="2512" y="1152"/>
                    </a:lnTo>
                    <a:lnTo>
                      <a:pt x="2506" y="1110"/>
                    </a:lnTo>
                    <a:lnTo>
                      <a:pt x="2498" y="1068"/>
                    </a:lnTo>
                    <a:lnTo>
                      <a:pt x="2596" y="1040"/>
                    </a:lnTo>
                    <a:lnTo>
                      <a:pt x="2560" y="904"/>
                    </a:lnTo>
                    <a:lnTo>
                      <a:pt x="2460" y="930"/>
                    </a:lnTo>
                    <a:lnTo>
                      <a:pt x="2446" y="888"/>
                    </a:lnTo>
                    <a:lnTo>
                      <a:pt x="2430" y="848"/>
                    </a:lnTo>
                    <a:lnTo>
                      <a:pt x="2412" y="808"/>
                    </a:lnTo>
                    <a:lnTo>
                      <a:pt x="2394" y="768"/>
                    </a:lnTo>
                    <a:lnTo>
                      <a:pt x="2482" y="718"/>
                    </a:lnTo>
                    <a:lnTo>
                      <a:pt x="2412" y="594"/>
                    </a:lnTo>
                    <a:lnTo>
                      <a:pt x="2322" y="646"/>
                    </a:lnTo>
                    <a:lnTo>
                      <a:pt x="2298" y="610"/>
                    </a:lnTo>
                    <a:lnTo>
                      <a:pt x="2272" y="574"/>
                    </a:lnTo>
                    <a:lnTo>
                      <a:pt x="2244" y="540"/>
                    </a:lnTo>
                    <a:lnTo>
                      <a:pt x="2216" y="508"/>
                    </a:lnTo>
                    <a:lnTo>
                      <a:pt x="2290" y="434"/>
                    </a:lnTo>
                    <a:lnTo>
                      <a:pt x="2188" y="334"/>
                    </a:lnTo>
                    <a:lnTo>
                      <a:pt x="2116" y="406"/>
                    </a:lnTo>
                    <a:lnTo>
                      <a:pt x="2082" y="378"/>
                    </a:lnTo>
                    <a:lnTo>
                      <a:pt x="2048" y="352"/>
                    </a:lnTo>
                    <a:lnTo>
                      <a:pt x="2014" y="326"/>
                    </a:lnTo>
                    <a:lnTo>
                      <a:pt x="1978" y="300"/>
                    </a:lnTo>
                    <a:lnTo>
                      <a:pt x="2028" y="212"/>
                    </a:lnTo>
                    <a:lnTo>
                      <a:pt x="1906" y="140"/>
                    </a:lnTo>
                    <a:lnTo>
                      <a:pt x="1854" y="230"/>
                    </a:lnTo>
                    <a:lnTo>
                      <a:pt x="1816" y="210"/>
                    </a:lnTo>
                    <a:lnTo>
                      <a:pt x="1776" y="194"/>
                    </a:lnTo>
                    <a:lnTo>
                      <a:pt x="1734" y="178"/>
                    </a:lnTo>
                    <a:lnTo>
                      <a:pt x="1694" y="162"/>
                    </a:lnTo>
                    <a:lnTo>
                      <a:pt x="1720" y="64"/>
                    </a:lnTo>
                    <a:lnTo>
                      <a:pt x="1582" y="26"/>
                    </a:lnTo>
                    <a:lnTo>
                      <a:pt x="1556" y="126"/>
                    </a:lnTo>
                    <a:lnTo>
                      <a:pt x="1514" y="118"/>
                    </a:lnTo>
                    <a:lnTo>
                      <a:pt x="1470" y="112"/>
                    </a:lnTo>
                    <a:lnTo>
                      <a:pt x="1426" y="106"/>
                    </a:lnTo>
                    <a:lnTo>
                      <a:pt x="1382" y="104"/>
                    </a:lnTo>
                    <a:lnTo>
                      <a:pt x="1382" y="0"/>
                    </a:lnTo>
                    <a:lnTo>
                      <a:pt x="1240" y="0"/>
                    </a:lnTo>
                    <a:lnTo>
                      <a:pt x="1240" y="104"/>
                    </a:lnTo>
                    <a:lnTo>
                      <a:pt x="1196" y="106"/>
                    </a:lnTo>
                    <a:lnTo>
                      <a:pt x="1154" y="112"/>
                    </a:lnTo>
                    <a:lnTo>
                      <a:pt x="1110" y="118"/>
                    </a:lnTo>
                    <a:lnTo>
                      <a:pt x="1068" y="126"/>
                    </a:lnTo>
                    <a:lnTo>
                      <a:pt x="1042" y="26"/>
                    </a:lnTo>
                    <a:lnTo>
                      <a:pt x="904" y="64"/>
                    </a:lnTo>
                    <a:lnTo>
                      <a:pt x="930" y="162"/>
                    </a:lnTo>
                    <a:lnTo>
                      <a:pt x="890" y="178"/>
                    </a:lnTo>
                    <a:lnTo>
                      <a:pt x="848" y="194"/>
                    </a:lnTo>
                    <a:lnTo>
                      <a:pt x="808" y="210"/>
                    </a:lnTo>
                    <a:lnTo>
                      <a:pt x="770" y="230"/>
                    </a:lnTo>
                    <a:lnTo>
                      <a:pt x="718" y="140"/>
                    </a:lnTo>
                    <a:lnTo>
                      <a:pt x="594" y="212"/>
                    </a:lnTo>
                    <a:lnTo>
                      <a:pt x="646" y="300"/>
                    </a:lnTo>
                    <a:lnTo>
                      <a:pt x="610" y="326"/>
                    </a:lnTo>
                    <a:lnTo>
                      <a:pt x="576" y="352"/>
                    </a:lnTo>
                    <a:lnTo>
                      <a:pt x="542" y="378"/>
                    </a:lnTo>
                    <a:lnTo>
                      <a:pt x="508" y="406"/>
                    </a:lnTo>
                    <a:lnTo>
                      <a:pt x="436" y="334"/>
                    </a:lnTo>
                    <a:lnTo>
                      <a:pt x="334" y="434"/>
                    </a:lnTo>
                    <a:lnTo>
                      <a:pt x="408" y="508"/>
                    </a:lnTo>
                    <a:lnTo>
                      <a:pt x="378" y="540"/>
                    </a:lnTo>
                    <a:lnTo>
                      <a:pt x="352" y="574"/>
                    </a:lnTo>
                    <a:lnTo>
                      <a:pt x="326" y="610"/>
                    </a:lnTo>
                    <a:lnTo>
                      <a:pt x="302" y="646"/>
                    </a:lnTo>
                    <a:lnTo>
                      <a:pt x="212" y="594"/>
                    </a:lnTo>
                    <a:lnTo>
                      <a:pt x="140" y="718"/>
                    </a:lnTo>
                    <a:lnTo>
                      <a:pt x="230" y="768"/>
                    </a:lnTo>
                    <a:lnTo>
                      <a:pt x="212" y="808"/>
                    </a:lnTo>
                    <a:lnTo>
                      <a:pt x="194" y="848"/>
                    </a:lnTo>
                    <a:lnTo>
                      <a:pt x="178" y="888"/>
                    </a:lnTo>
                    <a:lnTo>
                      <a:pt x="164" y="930"/>
                    </a:lnTo>
                    <a:lnTo>
                      <a:pt x="64" y="904"/>
                    </a:lnTo>
                    <a:lnTo>
                      <a:pt x="26" y="1040"/>
                    </a:lnTo>
                    <a:lnTo>
                      <a:pt x="126" y="1068"/>
                    </a:lnTo>
                    <a:lnTo>
                      <a:pt x="118" y="1110"/>
                    </a:lnTo>
                    <a:lnTo>
                      <a:pt x="112" y="1152"/>
                    </a:lnTo>
                    <a:lnTo>
                      <a:pt x="108" y="1196"/>
                    </a:lnTo>
                    <a:lnTo>
                      <a:pt x="104" y="1240"/>
                    </a:lnTo>
                    <a:lnTo>
                      <a:pt x="0" y="1240"/>
                    </a:lnTo>
                    <a:lnTo>
                      <a:pt x="0" y="1382"/>
                    </a:lnTo>
                    <a:lnTo>
                      <a:pt x="104" y="1382"/>
                    </a:lnTo>
                    <a:lnTo>
                      <a:pt x="108" y="1426"/>
                    </a:lnTo>
                    <a:lnTo>
                      <a:pt x="112" y="1470"/>
                    </a:lnTo>
                    <a:lnTo>
                      <a:pt x="118" y="1512"/>
                    </a:lnTo>
                    <a:lnTo>
                      <a:pt x="126" y="1556"/>
                    </a:lnTo>
                    <a:lnTo>
                      <a:pt x="26" y="1582"/>
                    </a:lnTo>
                    <a:lnTo>
                      <a:pt x="64" y="1720"/>
                    </a:lnTo>
                    <a:lnTo>
                      <a:pt x="164" y="1692"/>
                    </a:lnTo>
                    <a:lnTo>
                      <a:pt x="178" y="1734"/>
                    </a:lnTo>
                    <a:lnTo>
                      <a:pt x="194" y="1774"/>
                    </a:lnTo>
                    <a:lnTo>
                      <a:pt x="212" y="1814"/>
                    </a:lnTo>
                    <a:lnTo>
                      <a:pt x="230" y="1854"/>
                    </a:lnTo>
                    <a:lnTo>
                      <a:pt x="140" y="1906"/>
                    </a:lnTo>
                    <a:lnTo>
                      <a:pt x="212" y="2028"/>
                    </a:lnTo>
                    <a:lnTo>
                      <a:pt x="302" y="1978"/>
                    </a:lnTo>
                    <a:lnTo>
                      <a:pt x="326" y="2014"/>
                    </a:lnTo>
                    <a:lnTo>
                      <a:pt x="352" y="2048"/>
                    </a:lnTo>
                    <a:lnTo>
                      <a:pt x="378" y="2082"/>
                    </a:lnTo>
                    <a:lnTo>
                      <a:pt x="408" y="2116"/>
                    </a:lnTo>
                    <a:lnTo>
                      <a:pt x="334" y="2188"/>
                    </a:lnTo>
                    <a:lnTo>
                      <a:pt x="436" y="2288"/>
                    </a:lnTo>
                    <a:lnTo>
                      <a:pt x="508" y="2216"/>
                    </a:lnTo>
                    <a:lnTo>
                      <a:pt x="542" y="2244"/>
                    </a:lnTo>
                    <a:lnTo>
                      <a:pt x="576" y="2272"/>
                    </a:lnTo>
                    <a:lnTo>
                      <a:pt x="610" y="2298"/>
                    </a:lnTo>
                    <a:lnTo>
                      <a:pt x="646" y="2322"/>
                    </a:lnTo>
                    <a:lnTo>
                      <a:pt x="594" y="2412"/>
                    </a:lnTo>
                    <a:lnTo>
                      <a:pt x="718" y="2482"/>
                    </a:lnTo>
                    <a:lnTo>
                      <a:pt x="770" y="2394"/>
                    </a:lnTo>
                    <a:lnTo>
                      <a:pt x="808" y="2412"/>
                    </a:lnTo>
                    <a:lnTo>
                      <a:pt x="848" y="2430"/>
                    </a:lnTo>
                    <a:lnTo>
                      <a:pt x="890" y="2446"/>
                    </a:lnTo>
                    <a:lnTo>
                      <a:pt x="930" y="2460"/>
                    </a:lnTo>
                    <a:lnTo>
                      <a:pt x="904" y="2560"/>
                    </a:lnTo>
                    <a:lnTo>
                      <a:pt x="1042" y="2596"/>
                    </a:lnTo>
                    <a:lnTo>
                      <a:pt x="1068" y="2498"/>
                    </a:lnTo>
                    <a:lnTo>
                      <a:pt x="1110" y="2504"/>
                    </a:lnTo>
                    <a:lnTo>
                      <a:pt x="1154" y="2512"/>
                    </a:lnTo>
                    <a:lnTo>
                      <a:pt x="1196" y="2516"/>
                    </a:lnTo>
                    <a:lnTo>
                      <a:pt x="1240" y="2520"/>
                    </a:lnTo>
                    <a:lnTo>
                      <a:pt x="1240" y="2622"/>
                    </a:lnTo>
                    <a:lnTo>
                      <a:pt x="1382" y="2622"/>
                    </a:lnTo>
                    <a:lnTo>
                      <a:pt x="1382" y="2520"/>
                    </a:lnTo>
                    <a:lnTo>
                      <a:pt x="1426" y="2516"/>
                    </a:lnTo>
                    <a:lnTo>
                      <a:pt x="1470" y="2512"/>
                    </a:lnTo>
                    <a:lnTo>
                      <a:pt x="1514" y="2504"/>
                    </a:lnTo>
                    <a:lnTo>
                      <a:pt x="1556" y="2498"/>
                    </a:lnTo>
                    <a:lnTo>
                      <a:pt x="1582" y="2596"/>
                    </a:lnTo>
                    <a:lnTo>
                      <a:pt x="1720" y="2560"/>
                    </a:lnTo>
                    <a:lnTo>
                      <a:pt x="1694" y="2460"/>
                    </a:lnTo>
                    <a:lnTo>
                      <a:pt x="1734" y="2446"/>
                    </a:lnTo>
                    <a:lnTo>
                      <a:pt x="1776" y="2430"/>
                    </a:lnTo>
                    <a:lnTo>
                      <a:pt x="1816" y="2412"/>
                    </a:lnTo>
                    <a:lnTo>
                      <a:pt x="1854" y="2394"/>
                    </a:lnTo>
                    <a:lnTo>
                      <a:pt x="1906" y="2482"/>
                    </a:lnTo>
                    <a:lnTo>
                      <a:pt x="2028" y="2412"/>
                    </a:lnTo>
                    <a:lnTo>
                      <a:pt x="1978" y="2322"/>
                    </a:lnTo>
                    <a:lnTo>
                      <a:pt x="2014" y="2298"/>
                    </a:lnTo>
                    <a:lnTo>
                      <a:pt x="2048" y="2272"/>
                    </a:lnTo>
                    <a:lnTo>
                      <a:pt x="2082" y="2244"/>
                    </a:lnTo>
                    <a:lnTo>
                      <a:pt x="2116" y="2216"/>
                    </a:lnTo>
                    <a:lnTo>
                      <a:pt x="2188" y="2288"/>
                    </a:lnTo>
                    <a:lnTo>
                      <a:pt x="2290" y="2188"/>
                    </a:lnTo>
                    <a:lnTo>
                      <a:pt x="2216" y="2116"/>
                    </a:lnTo>
                    <a:lnTo>
                      <a:pt x="2244" y="2082"/>
                    </a:lnTo>
                    <a:lnTo>
                      <a:pt x="2272" y="2048"/>
                    </a:lnTo>
                    <a:lnTo>
                      <a:pt x="2298" y="2014"/>
                    </a:lnTo>
                    <a:lnTo>
                      <a:pt x="2322" y="1978"/>
                    </a:lnTo>
                    <a:lnTo>
                      <a:pt x="2412" y="2028"/>
                    </a:lnTo>
                    <a:lnTo>
                      <a:pt x="2482" y="1906"/>
                    </a:lnTo>
                    <a:lnTo>
                      <a:pt x="2394" y="1854"/>
                    </a:lnTo>
                    <a:lnTo>
                      <a:pt x="2412" y="1814"/>
                    </a:lnTo>
                    <a:lnTo>
                      <a:pt x="2430" y="1774"/>
                    </a:lnTo>
                    <a:lnTo>
                      <a:pt x="2446" y="1734"/>
                    </a:lnTo>
                    <a:lnTo>
                      <a:pt x="2460" y="1692"/>
                    </a:lnTo>
                    <a:lnTo>
                      <a:pt x="2560" y="1720"/>
                    </a:lnTo>
                    <a:lnTo>
                      <a:pt x="2596" y="1582"/>
                    </a:lnTo>
                    <a:lnTo>
                      <a:pt x="2498" y="1556"/>
                    </a:lnTo>
                    <a:lnTo>
                      <a:pt x="2506" y="1512"/>
                    </a:lnTo>
                    <a:lnTo>
                      <a:pt x="2512" y="1470"/>
                    </a:lnTo>
                    <a:lnTo>
                      <a:pt x="2516" y="1426"/>
                    </a:lnTo>
                    <a:lnTo>
                      <a:pt x="2520" y="1382"/>
                    </a:lnTo>
                    <a:lnTo>
                      <a:pt x="2622" y="1382"/>
                    </a:lnTo>
                    <a:close/>
                    <a:moveTo>
                      <a:pt x="1312" y="2420"/>
                    </a:moveTo>
                    <a:lnTo>
                      <a:pt x="1312" y="2420"/>
                    </a:lnTo>
                    <a:lnTo>
                      <a:pt x="1254" y="2420"/>
                    </a:lnTo>
                    <a:lnTo>
                      <a:pt x="1198" y="2416"/>
                    </a:lnTo>
                    <a:lnTo>
                      <a:pt x="1142" y="2408"/>
                    </a:lnTo>
                    <a:lnTo>
                      <a:pt x="1088" y="2398"/>
                    </a:lnTo>
                    <a:lnTo>
                      <a:pt x="1034" y="2386"/>
                    </a:lnTo>
                    <a:lnTo>
                      <a:pt x="982" y="2370"/>
                    </a:lnTo>
                    <a:lnTo>
                      <a:pt x="930" y="2354"/>
                    </a:lnTo>
                    <a:lnTo>
                      <a:pt x="880" y="2334"/>
                    </a:lnTo>
                    <a:lnTo>
                      <a:pt x="830" y="2312"/>
                    </a:lnTo>
                    <a:lnTo>
                      <a:pt x="782" y="2286"/>
                    </a:lnTo>
                    <a:lnTo>
                      <a:pt x="736" y="2260"/>
                    </a:lnTo>
                    <a:lnTo>
                      <a:pt x="692" y="2232"/>
                    </a:lnTo>
                    <a:lnTo>
                      <a:pt x="648" y="2200"/>
                    </a:lnTo>
                    <a:lnTo>
                      <a:pt x="606" y="2168"/>
                    </a:lnTo>
                    <a:lnTo>
                      <a:pt x="566" y="2132"/>
                    </a:lnTo>
                    <a:lnTo>
                      <a:pt x="528" y="2096"/>
                    </a:lnTo>
                    <a:lnTo>
                      <a:pt x="490" y="2058"/>
                    </a:lnTo>
                    <a:lnTo>
                      <a:pt x="456" y="2018"/>
                    </a:lnTo>
                    <a:lnTo>
                      <a:pt x="422" y="1976"/>
                    </a:lnTo>
                    <a:lnTo>
                      <a:pt x="392" y="1932"/>
                    </a:lnTo>
                    <a:lnTo>
                      <a:pt x="362" y="1886"/>
                    </a:lnTo>
                    <a:lnTo>
                      <a:pt x="336" y="1840"/>
                    </a:lnTo>
                    <a:lnTo>
                      <a:pt x="312" y="1792"/>
                    </a:lnTo>
                    <a:lnTo>
                      <a:pt x="290" y="1744"/>
                    </a:lnTo>
                    <a:lnTo>
                      <a:pt x="270" y="1692"/>
                    </a:lnTo>
                    <a:lnTo>
                      <a:pt x="252" y="1642"/>
                    </a:lnTo>
                    <a:lnTo>
                      <a:pt x="238" y="1588"/>
                    </a:lnTo>
                    <a:lnTo>
                      <a:pt x="224" y="1534"/>
                    </a:lnTo>
                    <a:lnTo>
                      <a:pt x="216" y="1480"/>
                    </a:lnTo>
                    <a:lnTo>
                      <a:pt x="208" y="1424"/>
                    </a:lnTo>
                    <a:lnTo>
                      <a:pt x="204" y="1368"/>
                    </a:lnTo>
                    <a:lnTo>
                      <a:pt x="202" y="1312"/>
                    </a:lnTo>
                    <a:lnTo>
                      <a:pt x="204" y="1254"/>
                    </a:lnTo>
                    <a:lnTo>
                      <a:pt x="208" y="1198"/>
                    </a:lnTo>
                    <a:lnTo>
                      <a:pt x="216" y="1142"/>
                    </a:lnTo>
                    <a:lnTo>
                      <a:pt x="224" y="1088"/>
                    </a:lnTo>
                    <a:lnTo>
                      <a:pt x="238" y="1034"/>
                    </a:lnTo>
                    <a:lnTo>
                      <a:pt x="252" y="982"/>
                    </a:lnTo>
                    <a:lnTo>
                      <a:pt x="270" y="930"/>
                    </a:lnTo>
                    <a:lnTo>
                      <a:pt x="290" y="880"/>
                    </a:lnTo>
                    <a:lnTo>
                      <a:pt x="312" y="830"/>
                    </a:lnTo>
                    <a:lnTo>
                      <a:pt x="336" y="782"/>
                    </a:lnTo>
                    <a:lnTo>
                      <a:pt x="362" y="736"/>
                    </a:lnTo>
                    <a:lnTo>
                      <a:pt x="392" y="692"/>
                    </a:lnTo>
                    <a:lnTo>
                      <a:pt x="422" y="648"/>
                    </a:lnTo>
                    <a:lnTo>
                      <a:pt x="456" y="606"/>
                    </a:lnTo>
                    <a:lnTo>
                      <a:pt x="490" y="566"/>
                    </a:lnTo>
                    <a:lnTo>
                      <a:pt x="528" y="526"/>
                    </a:lnTo>
                    <a:lnTo>
                      <a:pt x="566" y="490"/>
                    </a:lnTo>
                    <a:lnTo>
                      <a:pt x="606" y="456"/>
                    </a:lnTo>
                    <a:lnTo>
                      <a:pt x="648" y="422"/>
                    </a:lnTo>
                    <a:lnTo>
                      <a:pt x="692" y="392"/>
                    </a:lnTo>
                    <a:lnTo>
                      <a:pt x="736" y="362"/>
                    </a:lnTo>
                    <a:lnTo>
                      <a:pt x="782" y="336"/>
                    </a:lnTo>
                    <a:lnTo>
                      <a:pt x="830" y="312"/>
                    </a:lnTo>
                    <a:lnTo>
                      <a:pt x="880" y="290"/>
                    </a:lnTo>
                    <a:lnTo>
                      <a:pt x="930" y="270"/>
                    </a:lnTo>
                    <a:lnTo>
                      <a:pt x="982" y="252"/>
                    </a:lnTo>
                    <a:lnTo>
                      <a:pt x="1034" y="236"/>
                    </a:lnTo>
                    <a:lnTo>
                      <a:pt x="1088" y="224"/>
                    </a:lnTo>
                    <a:lnTo>
                      <a:pt x="1142" y="214"/>
                    </a:lnTo>
                    <a:lnTo>
                      <a:pt x="1198" y="208"/>
                    </a:lnTo>
                    <a:lnTo>
                      <a:pt x="1254" y="204"/>
                    </a:lnTo>
                    <a:lnTo>
                      <a:pt x="1312" y="202"/>
                    </a:lnTo>
                    <a:lnTo>
                      <a:pt x="1368" y="204"/>
                    </a:lnTo>
                    <a:lnTo>
                      <a:pt x="1426" y="208"/>
                    </a:lnTo>
                    <a:lnTo>
                      <a:pt x="1480" y="214"/>
                    </a:lnTo>
                    <a:lnTo>
                      <a:pt x="1536" y="224"/>
                    </a:lnTo>
                    <a:lnTo>
                      <a:pt x="1588" y="236"/>
                    </a:lnTo>
                    <a:lnTo>
                      <a:pt x="1642" y="252"/>
                    </a:lnTo>
                    <a:lnTo>
                      <a:pt x="1694" y="270"/>
                    </a:lnTo>
                    <a:lnTo>
                      <a:pt x="1744" y="290"/>
                    </a:lnTo>
                    <a:lnTo>
                      <a:pt x="1792" y="312"/>
                    </a:lnTo>
                    <a:lnTo>
                      <a:pt x="1840" y="336"/>
                    </a:lnTo>
                    <a:lnTo>
                      <a:pt x="1886" y="362"/>
                    </a:lnTo>
                    <a:lnTo>
                      <a:pt x="1932" y="392"/>
                    </a:lnTo>
                    <a:lnTo>
                      <a:pt x="1976" y="422"/>
                    </a:lnTo>
                    <a:lnTo>
                      <a:pt x="2018" y="456"/>
                    </a:lnTo>
                    <a:lnTo>
                      <a:pt x="2058" y="490"/>
                    </a:lnTo>
                    <a:lnTo>
                      <a:pt x="2096" y="526"/>
                    </a:lnTo>
                    <a:lnTo>
                      <a:pt x="2132" y="566"/>
                    </a:lnTo>
                    <a:lnTo>
                      <a:pt x="2168" y="606"/>
                    </a:lnTo>
                    <a:lnTo>
                      <a:pt x="2200" y="648"/>
                    </a:lnTo>
                    <a:lnTo>
                      <a:pt x="2232" y="692"/>
                    </a:lnTo>
                    <a:lnTo>
                      <a:pt x="2260" y="736"/>
                    </a:lnTo>
                    <a:lnTo>
                      <a:pt x="2288" y="782"/>
                    </a:lnTo>
                    <a:lnTo>
                      <a:pt x="2312" y="830"/>
                    </a:lnTo>
                    <a:lnTo>
                      <a:pt x="2334" y="880"/>
                    </a:lnTo>
                    <a:lnTo>
                      <a:pt x="2354" y="930"/>
                    </a:lnTo>
                    <a:lnTo>
                      <a:pt x="2372" y="982"/>
                    </a:lnTo>
                    <a:lnTo>
                      <a:pt x="2386" y="1034"/>
                    </a:lnTo>
                    <a:lnTo>
                      <a:pt x="2398" y="1088"/>
                    </a:lnTo>
                    <a:lnTo>
                      <a:pt x="2408" y="1142"/>
                    </a:lnTo>
                    <a:lnTo>
                      <a:pt x="2416" y="1198"/>
                    </a:lnTo>
                    <a:lnTo>
                      <a:pt x="2420" y="1254"/>
                    </a:lnTo>
                    <a:lnTo>
                      <a:pt x="2422" y="1312"/>
                    </a:lnTo>
                    <a:lnTo>
                      <a:pt x="2420" y="1368"/>
                    </a:lnTo>
                    <a:lnTo>
                      <a:pt x="2416" y="1424"/>
                    </a:lnTo>
                    <a:lnTo>
                      <a:pt x="2408" y="1480"/>
                    </a:lnTo>
                    <a:lnTo>
                      <a:pt x="2398" y="1534"/>
                    </a:lnTo>
                    <a:lnTo>
                      <a:pt x="2386" y="1588"/>
                    </a:lnTo>
                    <a:lnTo>
                      <a:pt x="2372" y="1642"/>
                    </a:lnTo>
                    <a:lnTo>
                      <a:pt x="2354" y="1692"/>
                    </a:lnTo>
                    <a:lnTo>
                      <a:pt x="2334" y="1744"/>
                    </a:lnTo>
                    <a:lnTo>
                      <a:pt x="2312" y="1792"/>
                    </a:lnTo>
                    <a:lnTo>
                      <a:pt x="2288" y="1840"/>
                    </a:lnTo>
                    <a:lnTo>
                      <a:pt x="2260" y="1886"/>
                    </a:lnTo>
                    <a:lnTo>
                      <a:pt x="2232" y="1932"/>
                    </a:lnTo>
                    <a:lnTo>
                      <a:pt x="2200" y="1976"/>
                    </a:lnTo>
                    <a:lnTo>
                      <a:pt x="2168" y="2018"/>
                    </a:lnTo>
                    <a:lnTo>
                      <a:pt x="2132" y="2058"/>
                    </a:lnTo>
                    <a:lnTo>
                      <a:pt x="2096" y="2096"/>
                    </a:lnTo>
                    <a:lnTo>
                      <a:pt x="2058" y="2132"/>
                    </a:lnTo>
                    <a:lnTo>
                      <a:pt x="2018" y="2168"/>
                    </a:lnTo>
                    <a:lnTo>
                      <a:pt x="1976" y="2200"/>
                    </a:lnTo>
                    <a:lnTo>
                      <a:pt x="1932" y="2232"/>
                    </a:lnTo>
                    <a:lnTo>
                      <a:pt x="1886" y="2260"/>
                    </a:lnTo>
                    <a:lnTo>
                      <a:pt x="1840" y="2286"/>
                    </a:lnTo>
                    <a:lnTo>
                      <a:pt x="1792" y="2312"/>
                    </a:lnTo>
                    <a:lnTo>
                      <a:pt x="1744" y="2334"/>
                    </a:lnTo>
                    <a:lnTo>
                      <a:pt x="1694" y="2354"/>
                    </a:lnTo>
                    <a:lnTo>
                      <a:pt x="1642" y="2370"/>
                    </a:lnTo>
                    <a:lnTo>
                      <a:pt x="1588" y="2386"/>
                    </a:lnTo>
                    <a:lnTo>
                      <a:pt x="1536" y="2398"/>
                    </a:lnTo>
                    <a:lnTo>
                      <a:pt x="1480" y="2408"/>
                    </a:lnTo>
                    <a:lnTo>
                      <a:pt x="1426" y="2416"/>
                    </a:lnTo>
                    <a:lnTo>
                      <a:pt x="1368" y="2420"/>
                    </a:lnTo>
                    <a:lnTo>
                      <a:pt x="1312" y="24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9"/>
                  <a:buFont typeface="Arial"/>
                  <a:buNone/>
                </a:pPr>
                <a:r>
                  <a:t/>
                </a:r>
                <a:endParaRPr b="0" i="0" sz="1829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4" name="Google Shape;434;p18"/>
              <p:cNvSpPr/>
              <p:nvPr/>
            </p:nvSpPr>
            <p:spPr>
              <a:xfrm rot="-324743">
                <a:off x="1307091" y="2016046"/>
                <a:ext cx="2695575" cy="26939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A6A6A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5" name="Google Shape;435;p18"/>
              <p:cNvSpPr/>
              <p:nvPr/>
            </p:nvSpPr>
            <p:spPr>
              <a:xfrm rot="-324743">
                <a:off x="4617028" y="1993821"/>
                <a:ext cx="1801813" cy="180181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A6A6A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6" name="Google Shape;436;p18"/>
              <p:cNvSpPr/>
              <p:nvPr/>
            </p:nvSpPr>
            <p:spPr>
              <a:xfrm rot="-324743">
                <a:off x="5689453" y="3676106"/>
                <a:ext cx="2303754" cy="2303922"/>
              </a:xfrm>
              <a:custGeom>
                <a:rect b="b" l="l" r="r" t="t"/>
                <a:pathLst>
                  <a:path extrusionOk="0" h="1816" w="1816">
                    <a:moveTo>
                      <a:pt x="1816" y="978"/>
                    </a:moveTo>
                    <a:lnTo>
                      <a:pt x="1816" y="836"/>
                    </a:lnTo>
                    <a:lnTo>
                      <a:pt x="1710" y="836"/>
                    </a:lnTo>
                    <a:lnTo>
                      <a:pt x="1706" y="792"/>
                    </a:lnTo>
                    <a:lnTo>
                      <a:pt x="1698" y="750"/>
                    </a:lnTo>
                    <a:lnTo>
                      <a:pt x="1688" y="708"/>
                    </a:lnTo>
                    <a:lnTo>
                      <a:pt x="1678" y="666"/>
                    </a:lnTo>
                    <a:lnTo>
                      <a:pt x="1774" y="626"/>
                    </a:lnTo>
                    <a:lnTo>
                      <a:pt x="1718" y="494"/>
                    </a:lnTo>
                    <a:lnTo>
                      <a:pt x="1622" y="534"/>
                    </a:lnTo>
                    <a:lnTo>
                      <a:pt x="1602" y="496"/>
                    </a:lnTo>
                    <a:lnTo>
                      <a:pt x="1578" y="460"/>
                    </a:lnTo>
                    <a:lnTo>
                      <a:pt x="1552" y="424"/>
                    </a:lnTo>
                    <a:lnTo>
                      <a:pt x="1526" y="390"/>
                    </a:lnTo>
                    <a:lnTo>
                      <a:pt x="1600" y="316"/>
                    </a:lnTo>
                    <a:lnTo>
                      <a:pt x="1498" y="216"/>
                    </a:lnTo>
                    <a:lnTo>
                      <a:pt x="1426" y="290"/>
                    </a:lnTo>
                    <a:lnTo>
                      <a:pt x="1392" y="262"/>
                    </a:lnTo>
                    <a:lnTo>
                      <a:pt x="1356" y="236"/>
                    </a:lnTo>
                    <a:lnTo>
                      <a:pt x="1318" y="214"/>
                    </a:lnTo>
                    <a:lnTo>
                      <a:pt x="1280" y="192"/>
                    </a:lnTo>
                    <a:lnTo>
                      <a:pt x="1320" y="96"/>
                    </a:lnTo>
                    <a:lnTo>
                      <a:pt x="1188" y="42"/>
                    </a:lnTo>
                    <a:lnTo>
                      <a:pt x="1150" y="138"/>
                    </a:lnTo>
                    <a:lnTo>
                      <a:pt x="1108" y="126"/>
                    </a:lnTo>
                    <a:lnTo>
                      <a:pt x="1066" y="116"/>
                    </a:lnTo>
                    <a:lnTo>
                      <a:pt x="1022" y="110"/>
                    </a:lnTo>
                    <a:lnTo>
                      <a:pt x="978" y="104"/>
                    </a:lnTo>
                    <a:lnTo>
                      <a:pt x="978" y="0"/>
                    </a:lnTo>
                    <a:lnTo>
                      <a:pt x="836" y="0"/>
                    </a:lnTo>
                    <a:lnTo>
                      <a:pt x="836" y="104"/>
                    </a:lnTo>
                    <a:lnTo>
                      <a:pt x="792" y="110"/>
                    </a:lnTo>
                    <a:lnTo>
                      <a:pt x="750" y="116"/>
                    </a:lnTo>
                    <a:lnTo>
                      <a:pt x="706" y="126"/>
                    </a:lnTo>
                    <a:lnTo>
                      <a:pt x="666" y="138"/>
                    </a:lnTo>
                    <a:lnTo>
                      <a:pt x="626" y="42"/>
                    </a:lnTo>
                    <a:lnTo>
                      <a:pt x="494" y="96"/>
                    </a:lnTo>
                    <a:lnTo>
                      <a:pt x="534" y="192"/>
                    </a:lnTo>
                    <a:lnTo>
                      <a:pt x="496" y="214"/>
                    </a:lnTo>
                    <a:lnTo>
                      <a:pt x="460" y="236"/>
                    </a:lnTo>
                    <a:lnTo>
                      <a:pt x="424" y="262"/>
                    </a:lnTo>
                    <a:lnTo>
                      <a:pt x="390" y="290"/>
                    </a:lnTo>
                    <a:lnTo>
                      <a:pt x="316" y="216"/>
                    </a:lnTo>
                    <a:lnTo>
                      <a:pt x="216" y="316"/>
                    </a:lnTo>
                    <a:lnTo>
                      <a:pt x="288" y="390"/>
                    </a:lnTo>
                    <a:lnTo>
                      <a:pt x="262" y="424"/>
                    </a:lnTo>
                    <a:lnTo>
                      <a:pt x="236" y="460"/>
                    </a:lnTo>
                    <a:lnTo>
                      <a:pt x="214" y="496"/>
                    </a:lnTo>
                    <a:lnTo>
                      <a:pt x="192" y="534"/>
                    </a:lnTo>
                    <a:lnTo>
                      <a:pt x="96" y="494"/>
                    </a:lnTo>
                    <a:lnTo>
                      <a:pt x="42" y="626"/>
                    </a:lnTo>
                    <a:lnTo>
                      <a:pt x="138" y="666"/>
                    </a:lnTo>
                    <a:lnTo>
                      <a:pt x="126" y="708"/>
                    </a:lnTo>
                    <a:lnTo>
                      <a:pt x="116" y="750"/>
                    </a:lnTo>
                    <a:lnTo>
                      <a:pt x="108" y="792"/>
                    </a:lnTo>
                    <a:lnTo>
                      <a:pt x="104" y="836"/>
                    </a:lnTo>
                    <a:lnTo>
                      <a:pt x="0" y="836"/>
                    </a:lnTo>
                    <a:lnTo>
                      <a:pt x="0" y="978"/>
                    </a:lnTo>
                    <a:lnTo>
                      <a:pt x="104" y="978"/>
                    </a:lnTo>
                    <a:lnTo>
                      <a:pt x="108" y="1022"/>
                    </a:lnTo>
                    <a:lnTo>
                      <a:pt x="116" y="1066"/>
                    </a:lnTo>
                    <a:lnTo>
                      <a:pt x="126" y="1108"/>
                    </a:lnTo>
                    <a:lnTo>
                      <a:pt x="138" y="1150"/>
                    </a:lnTo>
                    <a:lnTo>
                      <a:pt x="42" y="1190"/>
                    </a:lnTo>
                    <a:lnTo>
                      <a:pt x="96" y="1320"/>
                    </a:lnTo>
                    <a:lnTo>
                      <a:pt x="192" y="1280"/>
                    </a:lnTo>
                    <a:lnTo>
                      <a:pt x="214" y="1320"/>
                    </a:lnTo>
                    <a:lnTo>
                      <a:pt x="236" y="1356"/>
                    </a:lnTo>
                    <a:lnTo>
                      <a:pt x="262" y="1392"/>
                    </a:lnTo>
                    <a:lnTo>
                      <a:pt x="288" y="1426"/>
                    </a:lnTo>
                    <a:lnTo>
                      <a:pt x="216" y="1500"/>
                    </a:lnTo>
                    <a:lnTo>
                      <a:pt x="316" y="1600"/>
                    </a:lnTo>
                    <a:lnTo>
                      <a:pt x="390" y="1526"/>
                    </a:lnTo>
                    <a:lnTo>
                      <a:pt x="424" y="1554"/>
                    </a:lnTo>
                    <a:lnTo>
                      <a:pt x="460" y="1578"/>
                    </a:lnTo>
                    <a:lnTo>
                      <a:pt x="496" y="1602"/>
                    </a:lnTo>
                    <a:lnTo>
                      <a:pt x="534" y="1622"/>
                    </a:lnTo>
                    <a:lnTo>
                      <a:pt x="494" y="1718"/>
                    </a:lnTo>
                    <a:lnTo>
                      <a:pt x="626" y="1774"/>
                    </a:lnTo>
                    <a:lnTo>
                      <a:pt x="666" y="1678"/>
                    </a:lnTo>
                    <a:lnTo>
                      <a:pt x="706" y="1690"/>
                    </a:lnTo>
                    <a:lnTo>
                      <a:pt x="750" y="1698"/>
                    </a:lnTo>
                    <a:lnTo>
                      <a:pt x="792" y="1706"/>
                    </a:lnTo>
                    <a:lnTo>
                      <a:pt x="836" y="1712"/>
                    </a:lnTo>
                    <a:lnTo>
                      <a:pt x="836" y="1816"/>
                    </a:lnTo>
                    <a:lnTo>
                      <a:pt x="978" y="1816"/>
                    </a:lnTo>
                    <a:lnTo>
                      <a:pt x="978" y="1712"/>
                    </a:lnTo>
                    <a:lnTo>
                      <a:pt x="1022" y="1706"/>
                    </a:lnTo>
                    <a:lnTo>
                      <a:pt x="1066" y="1698"/>
                    </a:lnTo>
                    <a:lnTo>
                      <a:pt x="1108" y="1690"/>
                    </a:lnTo>
                    <a:lnTo>
                      <a:pt x="1150" y="1678"/>
                    </a:lnTo>
                    <a:lnTo>
                      <a:pt x="1188" y="1774"/>
                    </a:lnTo>
                    <a:lnTo>
                      <a:pt x="1320" y="1718"/>
                    </a:lnTo>
                    <a:lnTo>
                      <a:pt x="1280" y="1622"/>
                    </a:lnTo>
                    <a:lnTo>
                      <a:pt x="1318" y="1602"/>
                    </a:lnTo>
                    <a:lnTo>
                      <a:pt x="1356" y="1578"/>
                    </a:lnTo>
                    <a:lnTo>
                      <a:pt x="1392" y="1554"/>
                    </a:lnTo>
                    <a:lnTo>
                      <a:pt x="1426" y="1526"/>
                    </a:lnTo>
                    <a:lnTo>
                      <a:pt x="1498" y="1600"/>
                    </a:lnTo>
                    <a:lnTo>
                      <a:pt x="1600" y="1500"/>
                    </a:lnTo>
                    <a:lnTo>
                      <a:pt x="1526" y="1426"/>
                    </a:lnTo>
                    <a:lnTo>
                      <a:pt x="1552" y="1392"/>
                    </a:lnTo>
                    <a:lnTo>
                      <a:pt x="1578" y="1356"/>
                    </a:lnTo>
                    <a:lnTo>
                      <a:pt x="1602" y="1320"/>
                    </a:lnTo>
                    <a:lnTo>
                      <a:pt x="1622" y="1280"/>
                    </a:lnTo>
                    <a:lnTo>
                      <a:pt x="1718" y="1320"/>
                    </a:lnTo>
                    <a:lnTo>
                      <a:pt x="1774" y="1190"/>
                    </a:lnTo>
                    <a:lnTo>
                      <a:pt x="1678" y="1150"/>
                    </a:lnTo>
                    <a:lnTo>
                      <a:pt x="1688" y="1108"/>
                    </a:lnTo>
                    <a:lnTo>
                      <a:pt x="1698" y="1066"/>
                    </a:lnTo>
                    <a:lnTo>
                      <a:pt x="1706" y="1022"/>
                    </a:lnTo>
                    <a:lnTo>
                      <a:pt x="1710" y="978"/>
                    </a:lnTo>
                    <a:lnTo>
                      <a:pt x="1816" y="978"/>
                    </a:lnTo>
                    <a:close/>
                    <a:moveTo>
                      <a:pt x="908" y="1614"/>
                    </a:moveTo>
                    <a:lnTo>
                      <a:pt x="908" y="1614"/>
                    </a:lnTo>
                    <a:lnTo>
                      <a:pt x="872" y="1612"/>
                    </a:lnTo>
                    <a:lnTo>
                      <a:pt x="836" y="1610"/>
                    </a:lnTo>
                    <a:lnTo>
                      <a:pt x="800" y="1606"/>
                    </a:lnTo>
                    <a:lnTo>
                      <a:pt x="766" y="1600"/>
                    </a:lnTo>
                    <a:lnTo>
                      <a:pt x="730" y="1592"/>
                    </a:lnTo>
                    <a:lnTo>
                      <a:pt x="698" y="1582"/>
                    </a:lnTo>
                    <a:lnTo>
                      <a:pt x="664" y="1570"/>
                    </a:lnTo>
                    <a:lnTo>
                      <a:pt x="632" y="1558"/>
                    </a:lnTo>
                    <a:lnTo>
                      <a:pt x="602" y="1544"/>
                    </a:lnTo>
                    <a:lnTo>
                      <a:pt x="570" y="1528"/>
                    </a:lnTo>
                    <a:lnTo>
                      <a:pt x="542" y="1512"/>
                    </a:lnTo>
                    <a:lnTo>
                      <a:pt x="512" y="1492"/>
                    </a:lnTo>
                    <a:lnTo>
                      <a:pt x="484" y="1474"/>
                    </a:lnTo>
                    <a:lnTo>
                      <a:pt x="458" y="1452"/>
                    </a:lnTo>
                    <a:lnTo>
                      <a:pt x="432" y="1430"/>
                    </a:lnTo>
                    <a:lnTo>
                      <a:pt x="408" y="1406"/>
                    </a:lnTo>
                    <a:lnTo>
                      <a:pt x="384" y="1382"/>
                    </a:lnTo>
                    <a:lnTo>
                      <a:pt x="362" y="1356"/>
                    </a:lnTo>
                    <a:lnTo>
                      <a:pt x="342" y="1330"/>
                    </a:lnTo>
                    <a:lnTo>
                      <a:pt x="322" y="1302"/>
                    </a:lnTo>
                    <a:lnTo>
                      <a:pt x="304" y="1274"/>
                    </a:lnTo>
                    <a:lnTo>
                      <a:pt x="286" y="1244"/>
                    </a:lnTo>
                    <a:lnTo>
                      <a:pt x="272" y="1214"/>
                    </a:lnTo>
                    <a:lnTo>
                      <a:pt x="256" y="1182"/>
                    </a:lnTo>
                    <a:lnTo>
                      <a:pt x="244" y="1150"/>
                    </a:lnTo>
                    <a:lnTo>
                      <a:pt x="234" y="1118"/>
                    </a:lnTo>
                    <a:lnTo>
                      <a:pt x="224" y="1084"/>
                    </a:lnTo>
                    <a:lnTo>
                      <a:pt x="216" y="1050"/>
                    </a:lnTo>
                    <a:lnTo>
                      <a:pt x="210" y="1016"/>
                    </a:lnTo>
                    <a:lnTo>
                      <a:pt x="206" y="980"/>
                    </a:lnTo>
                    <a:lnTo>
                      <a:pt x="202" y="944"/>
                    </a:lnTo>
                    <a:lnTo>
                      <a:pt x="202" y="908"/>
                    </a:lnTo>
                    <a:lnTo>
                      <a:pt x="202" y="872"/>
                    </a:lnTo>
                    <a:lnTo>
                      <a:pt x="206" y="836"/>
                    </a:lnTo>
                    <a:lnTo>
                      <a:pt x="210" y="800"/>
                    </a:lnTo>
                    <a:lnTo>
                      <a:pt x="216" y="766"/>
                    </a:lnTo>
                    <a:lnTo>
                      <a:pt x="224" y="732"/>
                    </a:lnTo>
                    <a:lnTo>
                      <a:pt x="234" y="698"/>
                    </a:lnTo>
                    <a:lnTo>
                      <a:pt x="244" y="664"/>
                    </a:lnTo>
                    <a:lnTo>
                      <a:pt x="256" y="632"/>
                    </a:lnTo>
                    <a:lnTo>
                      <a:pt x="272" y="602"/>
                    </a:lnTo>
                    <a:lnTo>
                      <a:pt x="286" y="572"/>
                    </a:lnTo>
                    <a:lnTo>
                      <a:pt x="304" y="542"/>
                    </a:lnTo>
                    <a:lnTo>
                      <a:pt x="322" y="512"/>
                    </a:lnTo>
                    <a:lnTo>
                      <a:pt x="342" y="486"/>
                    </a:lnTo>
                    <a:lnTo>
                      <a:pt x="362" y="458"/>
                    </a:lnTo>
                    <a:lnTo>
                      <a:pt x="384" y="432"/>
                    </a:lnTo>
                    <a:lnTo>
                      <a:pt x="408" y="408"/>
                    </a:lnTo>
                    <a:lnTo>
                      <a:pt x="432" y="386"/>
                    </a:lnTo>
                    <a:lnTo>
                      <a:pt x="458" y="362"/>
                    </a:lnTo>
                    <a:lnTo>
                      <a:pt x="484" y="342"/>
                    </a:lnTo>
                    <a:lnTo>
                      <a:pt x="512" y="322"/>
                    </a:lnTo>
                    <a:lnTo>
                      <a:pt x="542" y="304"/>
                    </a:lnTo>
                    <a:lnTo>
                      <a:pt x="570" y="286"/>
                    </a:lnTo>
                    <a:lnTo>
                      <a:pt x="602" y="272"/>
                    </a:lnTo>
                    <a:lnTo>
                      <a:pt x="632" y="258"/>
                    </a:lnTo>
                    <a:lnTo>
                      <a:pt x="664" y="244"/>
                    </a:lnTo>
                    <a:lnTo>
                      <a:pt x="698" y="234"/>
                    </a:lnTo>
                    <a:lnTo>
                      <a:pt x="730" y="224"/>
                    </a:lnTo>
                    <a:lnTo>
                      <a:pt x="766" y="216"/>
                    </a:lnTo>
                    <a:lnTo>
                      <a:pt x="800" y="210"/>
                    </a:lnTo>
                    <a:lnTo>
                      <a:pt x="836" y="206"/>
                    </a:lnTo>
                    <a:lnTo>
                      <a:pt x="872" y="202"/>
                    </a:lnTo>
                    <a:lnTo>
                      <a:pt x="908" y="202"/>
                    </a:lnTo>
                    <a:lnTo>
                      <a:pt x="944" y="202"/>
                    </a:lnTo>
                    <a:lnTo>
                      <a:pt x="980" y="206"/>
                    </a:lnTo>
                    <a:lnTo>
                      <a:pt x="1014" y="210"/>
                    </a:lnTo>
                    <a:lnTo>
                      <a:pt x="1050" y="216"/>
                    </a:lnTo>
                    <a:lnTo>
                      <a:pt x="1084" y="224"/>
                    </a:lnTo>
                    <a:lnTo>
                      <a:pt x="1118" y="234"/>
                    </a:lnTo>
                    <a:lnTo>
                      <a:pt x="1150" y="244"/>
                    </a:lnTo>
                    <a:lnTo>
                      <a:pt x="1182" y="258"/>
                    </a:lnTo>
                    <a:lnTo>
                      <a:pt x="1214" y="272"/>
                    </a:lnTo>
                    <a:lnTo>
                      <a:pt x="1244" y="286"/>
                    </a:lnTo>
                    <a:lnTo>
                      <a:pt x="1274" y="304"/>
                    </a:lnTo>
                    <a:lnTo>
                      <a:pt x="1302" y="322"/>
                    </a:lnTo>
                    <a:lnTo>
                      <a:pt x="1330" y="342"/>
                    </a:lnTo>
                    <a:lnTo>
                      <a:pt x="1356" y="362"/>
                    </a:lnTo>
                    <a:lnTo>
                      <a:pt x="1382" y="386"/>
                    </a:lnTo>
                    <a:lnTo>
                      <a:pt x="1406" y="408"/>
                    </a:lnTo>
                    <a:lnTo>
                      <a:pt x="1430" y="432"/>
                    </a:lnTo>
                    <a:lnTo>
                      <a:pt x="1452" y="458"/>
                    </a:lnTo>
                    <a:lnTo>
                      <a:pt x="1474" y="486"/>
                    </a:lnTo>
                    <a:lnTo>
                      <a:pt x="1492" y="512"/>
                    </a:lnTo>
                    <a:lnTo>
                      <a:pt x="1512" y="542"/>
                    </a:lnTo>
                    <a:lnTo>
                      <a:pt x="1528" y="572"/>
                    </a:lnTo>
                    <a:lnTo>
                      <a:pt x="1544" y="602"/>
                    </a:lnTo>
                    <a:lnTo>
                      <a:pt x="1558" y="632"/>
                    </a:lnTo>
                    <a:lnTo>
                      <a:pt x="1570" y="664"/>
                    </a:lnTo>
                    <a:lnTo>
                      <a:pt x="1582" y="698"/>
                    </a:lnTo>
                    <a:lnTo>
                      <a:pt x="1592" y="732"/>
                    </a:lnTo>
                    <a:lnTo>
                      <a:pt x="1598" y="766"/>
                    </a:lnTo>
                    <a:lnTo>
                      <a:pt x="1606" y="800"/>
                    </a:lnTo>
                    <a:lnTo>
                      <a:pt x="1610" y="836"/>
                    </a:lnTo>
                    <a:lnTo>
                      <a:pt x="1612" y="872"/>
                    </a:lnTo>
                    <a:lnTo>
                      <a:pt x="1614" y="908"/>
                    </a:lnTo>
                    <a:lnTo>
                      <a:pt x="1612" y="944"/>
                    </a:lnTo>
                    <a:lnTo>
                      <a:pt x="1610" y="980"/>
                    </a:lnTo>
                    <a:lnTo>
                      <a:pt x="1606" y="1016"/>
                    </a:lnTo>
                    <a:lnTo>
                      <a:pt x="1598" y="1050"/>
                    </a:lnTo>
                    <a:lnTo>
                      <a:pt x="1592" y="1084"/>
                    </a:lnTo>
                    <a:lnTo>
                      <a:pt x="1582" y="1118"/>
                    </a:lnTo>
                    <a:lnTo>
                      <a:pt x="1570" y="1150"/>
                    </a:lnTo>
                    <a:lnTo>
                      <a:pt x="1558" y="1182"/>
                    </a:lnTo>
                    <a:lnTo>
                      <a:pt x="1544" y="1214"/>
                    </a:lnTo>
                    <a:lnTo>
                      <a:pt x="1528" y="1244"/>
                    </a:lnTo>
                    <a:lnTo>
                      <a:pt x="1512" y="1274"/>
                    </a:lnTo>
                    <a:lnTo>
                      <a:pt x="1492" y="1302"/>
                    </a:lnTo>
                    <a:lnTo>
                      <a:pt x="1474" y="1330"/>
                    </a:lnTo>
                    <a:lnTo>
                      <a:pt x="1452" y="1356"/>
                    </a:lnTo>
                    <a:lnTo>
                      <a:pt x="1430" y="1382"/>
                    </a:lnTo>
                    <a:lnTo>
                      <a:pt x="1406" y="1406"/>
                    </a:lnTo>
                    <a:lnTo>
                      <a:pt x="1382" y="1430"/>
                    </a:lnTo>
                    <a:lnTo>
                      <a:pt x="1356" y="1452"/>
                    </a:lnTo>
                    <a:lnTo>
                      <a:pt x="1330" y="1474"/>
                    </a:lnTo>
                    <a:lnTo>
                      <a:pt x="1302" y="1492"/>
                    </a:lnTo>
                    <a:lnTo>
                      <a:pt x="1274" y="1512"/>
                    </a:lnTo>
                    <a:lnTo>
                      <a:pt x="1244" y="1528"/>
                    </a:lnTo>
                    <a:lnTo>
                      <a:pt x="1214" y="1544"/>
                    </a:lnTo>
                    <a:lnTo>
                      <a:pt x="1182" y="1558"/>
                    </a:lnTo>
                    <a:lnTo>
                      <a:pt x="1150" y="1570"/>
                    </a:lnTo>
                    <a:lnTo>
                      <a:pt x="1118" y="1582"/>
                    </a:lnTo>
                    <a:lnTo>
                      <a:pt x="1084" y="1592"/>
                    </a:lnTo>
                    <a:lnTo>
                      <a:pt x="1050" y="1600"/>
                    </a:lnTo>
                    <a:lnTo>
                      <a:pt x="1014" y="1606"/>
                    </a:lnTo>
                    <a:lnTo>
                      <a:pt x="980" y="1610"/>
                    </a:lnTo>
                    <a:lnTo>
                      <a:pt x="944" y="1612"/>
                    </a:lnTo>
                    <a:lnTo>
                      <a:pt x="908" y="16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A5A5A5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7" name="Google Shape;437;p18"/>
              <p:cNvSpPr/>
              <p:nvPr/>
            </p:nvSpPr>
            <p:spPr>
              <a:xfrm rot="-324743">
                <a:off x="6050897" y="4039847"/>
                <a:ext cx="1577880" cy="15779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A5A5A5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8" name="Google Shape;438;p18"/>
              <p:cNvSpPr/>
              <p:nvPr/>
            </p:nvSpPr>
            <p:spPr>
              <a:xfrm rot="7501686">
                <a:off x="4141571" y="3609103"/>
                <a:ext cx="1906587" cy="1549400"/>
              </a:xfrm>
              <a:custGeom>
                <a:rect b="b" l="l" r="r" t="t"/>
                <a:pathLst>
                  <a:path extrusionOk="0" fill="none" h="15695" w="21600">
                    <a:moveTo>
                      <a:pt x="14840" y="-1"/>
                    </a:moveTo>
                    <a:cubicBezTo>
                      <a:pt x="19155" y="4079"/>
                      <a:pt x="21600" y="9756"/>
                      <a:pt x="21600" y="15695"/>
                    </a:cubicBezTo>
                  </a:path>
                  <a:path extrusionOk="0" h="15695" w="21600">
                    <a:moveTo>
                      <a:pt x="14840" y="-1"/>
                    </a:moveTo>
                    <a:cubicBezTo>
                      <a:pt x="19155" y="4079"/>
                      <a:pt x="21600" y="9756"/>
                      <a:pt x="21600" y="15695"/>
                    </a:cubicBezTo>
                    <a:lnTo>
                      <a:pt x="0" y="15695"/>
                    </a:lnTo>
                    <a:lnTo>
                      <a:pt x="14840" y="-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7F7F7F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9"/>
                  <a:buFont typeface="Arial"/>
                  <a:buNone/>
                </a:pPr>
                <a:r>
                  <a:t/>
                </a:r>
                <a:endParaRPr b="0" i="0" sz="1829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9" name="Google Shape;439;p18"/>
              <p:cNvSpPr/>
              <p:nvPr/>
            </p:nvSpPr>
            <p:spPr>
              <a:xfrm rot="256945">
                <a:off x="7018916" y="2744709"/>
                <a:ext cx="620712" cy="898525"/>
              </a:xfrm>
              <a:custGeom>
                <a:rect b="b" l="l" r="r" t="t"/>
                <a:pathLst>
                  <a:path extrusionOk="0" fill="none" h="31203" w="21600">
                    <a:moveTo>
                      <a:pt x="3237" y="-1"/>
                    </a:moveTo>
                    <a:cubicBezTo>
                      <a:pt x="13795" y="1600"/>
                      <a:pt x="21600" y="10676"/>
                      <a:pt x="21600" y="21356"/>
                    </a:cubicBezTo>
                    <a:cubicBezTo>
                      <a:pt x="21600" y="24780"/>
                      <a:pt x="20785" y="28155"/>
                      <a:pt x="19224" y="31202"/>
                    </a:cubicBezTo>
                  </a:path>
                  <a:path extrusionOk="0" h="31203" w="21600">
                    <a:moveTo>
                      <a:pt x="3237" y="-1"/>
                    </a:moveTo>
                    <a:cubicBezTo>
                      <a:pt x="13795" y="1600"/>
                      <a:pt x="21600" y="10676"/>
                      <a:pt x="21600" y="21356"/>
                    </a:cubicBezTo>
                    <a:cubicBezTo>
                      <a:pt x="21600" y="24780"/>
                      <a:pt x="20785" y="28155"/>
                      <a:pt x="19224" y="31202"/>
                    </a:cubicBezTo>
                    <a:lnTo>
                      <a:pt x="0" y="21356"/>
                    </a:lnTo>
                    <a:lnTo>
                      <a:pt x="3237" y="-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7F7F7F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29"/>
                  <a:buFont typeface="Arial"/>
                  <a:buNone/>
                </a:pPr>
                <a:r>
                  <a:t/>
                </a:r>
                <a:endParaRPr b="0" i="0" sz="1829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40" name="Google Shape;440;p18"/>
            <p:cNvGrpSpPr/>
            <p:nvPr/>
          </p:nvGrpSpPr>
          <p:grpSpPr>
            <a:xfrm>
              <a:off x="6904395" y="5123698"/>
              <a:ext cx="414060" cy="412217"/>
              <a:chOff x="5607370" y="3562829"/>
              <a:chExt cx="587140" cy="587140"/>
            </a:xfrm>
          </p:grpSpPr>
          <p:sp>
            <p:nvSpPr>
              <p:cNvPr id="441" name="Google Shape;441;p18"/>
              <p:cNvSpPr/>
              <p:nvPr/>
            </p:nvSpPr>
            <p:spPr>
              <a:xfrm>
                <a:off x="5746497" y="3702123"/>
                <a:ext cx="308897" cy="308544"/>
              </a:xfrm>
              <a:custGeom>
                <a:rect b="b" l="l" r="r" t="t"/>
                <a:pathLst>
                  <a:path extrusionOk="0" h="370" w="371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3575" lIns="107150" spcFirstLastPara="1" rIns="107150" wrap="square" tIns="53575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D8D8D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42" name="Google Shape;442;p18"/>
              <p:cNvSpPr/>
              <p:nvPr/>
            </p:nvSpPr>
            <p:spPr>
              <a:xfrm>
                <a:off x="5607370" y="3562829"/>
                <a:ext cx="587140" cy="587140"/>
              </a:xfrm>
              <a:custGeom>
                <a:rect b="b" l="l" r="r" t="t"/>
                <a:pathLst>
                  <a:path extrusionOk="0" h="384" w="384">
                    <a:moveTo>
                      <a:pt x="192" y="0"/>
                    </a:moveTo>
                    <a:cubicBezTo>
                      <a:pt x="86" y="0"/>
                      <a:pt x="0" y="86"/>
                      <a:pt x="0" y="192"/>
                    </a:cubicBezTo>
                    <a:cubicBezTo>
                      <a:pt x="0" y="298"/>
                      <a:pt x="86" y="384"/>
                      <a:pt x="192" y="384"/>
                    </a:cubicBezTo>
                    <a:cubicBezTo>
                      <a:pt x="298" y="384"/>
                      <a:pt x="384" y="298"/>
                      <a:pt x="384" y="192"/>
                    </a:cubicBezTo>
                    <a:cubicBezTo>
                      <a:pt x="384" y="86"/>
                      <a:pt x="298" y="0"/>
                      <a:pt x="192" y="0"/>
                    </a:cubicBezTo>
                    <a:close/>
                    <a:moveTo>
                      <a:pt x="192" y="349"/>
                    </a:moveTo>
                    <a:cubicBezTo>
                      <a:pt x="105" y="349"/>
                      <a:pt x="35" y="278"/>
                      <a:pt x="35" y="192"/>
                    </a:cubicBezTo>
                    <a:cubicBezTo>
                      <a:pt x="35" y="105"/>
                      <a:pt x="105" y="35"/>
                      <a:pt x="192" y="35"/>
                    </a:cubicBezTo>
                    <a:cubicBezTo>
                      <a:pt x="278" y="35"/>
                      <a:pt x="349" y="105"/>
                      <a:pt x="349" y="192"/>
                    </a:cubicBezTo>
                    <a:cubicBezTo>
                      <a:pt x="349" y="278"/>
                      <a:pt x="278" y="349"/>
                      <a:pt x="192" y="3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3575" lIns="107150" spcFirstLastPara="1" rIns="107150" wrap="square" tIns="53575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D8D8D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43" name="Google Shape;443;p18"/>
            <p:cNvGrpSpPr/>
            <p:nvPr/>
          </p:nvGrpSpPr>
          <p:grpSpPr>
            <a:xfrm>
              <a:off x="6902424" y="2199786"/>
              <a:ext cx="594719" cy="592071"/>
              <a:chOff x="6665323" y="3562825"/>
              <a:chExt cx="587140" cy="587140"/>
            </a:xfrm>
          </p:grpSpPr>
          <p:sp>
            <p:nvSpPr>
              <p:cNvPr id="444" name="Google Shape;444;p18"/>
              <p:cNvSpPr/>
              <p:nvPr/>
            </p:nvSpPr>
            <p:spPr>
              <a:xfrm>
                <a:off x="6808144" y="3735126"/>
                <a:ext cx="301499" cy="242538"/>
              </a:xfrm>
              <a:custGeom>
                <a:rect b="b" l="l" r="r" t="t"/>
                <a:pathLst>
                  <a:path extrusionOk="0" h="322" w="400">
                    <a:moveTo>
                      <a:pt x="393" y="61"/>
                    </a:moveTo>
                    <a:cubicBezTo>
                      <a:pt x="300" y="3"/>
                      <a:pt x="300" y="3"/>
                      <a:pt x="300" y="3"/>
                    </a:cubicBezTo>
                    <a:cubicBezTo>
                      <a:pt x="296" y="0"/>
                      <a:pt x="291" y="0"/>
                      <a:pt x="286" y="3"/>
                    </a:cubicBezTo>
                    <a:cubicBezTo>
                      <a:pt x="200" y="57"/>
                      <a:pt x="200" y="57"/>
                      <a:pt x="200" y="57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09" y="0"/>
                      <a:pt x="104" y="0"/>
                      <a:pt x="100" y="3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2" y="64"/>
                      <a:pt x="0" y="68"/>
                      <a:pt x="0" y="73"/>
                    </a:cubicBezTo>
                    <a:cubicBezTo>
                      <a:pt x="0" y="307"/>
                      <a:pt x="0" y="307"/>
                      <a:pt x="0" y="307"/>
                    </a:cubicBezTo>
                    <a:cubicBezTo>
                      <a:pt x="0" y="312"/>
                      <a:pt x="2" y="317"/>
                      <a:pt x="6" y="319"/>
                    </a:cubicBezTo>
                    <a:cubicBezTo>
                      <a:pt x="11" y="322"/>
                      <a:pt x="16" y="321"/>
                      <a:pt x="20" y="319"/>
                    </a:cubicBezTo>
                    <a:cubicBezTo>
                      <a:pt x="106" y="265"/>
                      <a:pt x="106" y="265"/>
                      <a:pt x="106" y="265"/>
                    </a:cubicBezTo>
                    <a:cubicBezTo>
                      <a:pt x="193" y="319"/>
                      <a:pt x="193" y="319"/>
                      <a:pt x="193" y="319"/>
                    </a:cubicBezTo>
                    <a:cubicBezTo>
                      <a:pt x="197" y="322"/>
                      <a:pt x="202" y="322"/>
                      <a:pt x="207" y="319"/>
                    </a:cubicBezTo>
                    <a:cubicBezTo>
                      <a:pt x="293" y="265"/>
                      <a:pt x="293" y="265"/>
                      <a:pt x="293" y="265"/>
                    </a:cubicBezTo>
                    <a:cubicBezTo>
                      <a:pt x="380" y="319"/>
                      <a:pt x="380" y="319"/>
                      <a:pt x="380" y="319"/>
                    </a:cubicBezTo>
                    <a:cubicBezTo>
                      <a:pt x="382" y="320"/>
                      <a:pt x="384" y="321"/>
                      <a:pt x="387" y="321"/>
                    </a:cubicBezTo>
                    <a:cubicBezTo>
                      <a:pt x="389" y="321"/>
                      <a:pt x="391" y="320"/>
                      <a:pt x="393" y="319"/>
                    </a:cubicBezTo>
                    <a:cubicBezTo>
                      <a:pt x="397" y="317"/>
                      <a:pt x="400" y="312"/>
                      <a:pt x="400" y="307"/>
                    </a:cubicBezTo>
                    <a:cubicBezTo>
                      <a:pt x="400" y="73"/>
                      <a:pt x="400" y="73"/>
                      <a:pt x="400" y="73"/>
                    </a:cubicBezTo>
                    <a:cubicBezTo>
                      <a:pt x="400" y="68"/>
                      <a:pt x="397" y="64"/>
                      <a:pt x="393" y="61"/>
                    </a:cubicBezTo>
                    <a:close/>
                    <a:moveTo>
                      <a:pt x="93" y="241"/>
                    </a:moveTo>
                    <a:cubicBezTo>
                      <a:pt x="26" y="283"/>
                      <a:pt x="26" y="283"/>
                      <a:pt x="26" y="283"/>
                    </a:cubicBezTo>
                    <a:cubicBezTo>
                      <a:pt x="26" y="81"/>
                      <a:pt x="26" y="81"/>
                      <a:pt x="26" y="81"/>
                    </a:cubicBezTo>
                    <a:cubicBezTo>
                      <a:pt x="93" y="39"/>
                      <a:pt x="93" y="39"/>
                      <a:pt x="93" y="39"/>
                    </a:cubicBezTo>
                    <a:lnTo>
                      <a:pt x="93" y="241"/>
                    </a:lnTo>
                    <a:close/>
                    <a:moveTo>
                      <a:pt x="187" y="283"/>
                    </a:moveTo>
                    <a:cubicBezTo>
                      <a:pt x="119" y="241"/>
                      <a:pt x="119" y="241"/>
                      <a:pt x="119" y="241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87" y="81"/>
                      <a:pt x="187" y="81"/>
                      <a:pt x="187" y="81"/>
                    </a:cubicBezTo>
                    <a:lnTo>
                      <a:pt x="187" y="283"/>
                    </a:lnTo>
                    <a:close/>
                    <a:moveTo>
                      <a:pt x="280" y="241"/>
                    </a:moveTo>
                    <a:cubicBezTo>
                      <a:pt x="213" y="283"/>
                      <a:pt x="213" y="283"/>
                      <a:pt x="213" y="283"/>
                    </a:cubicBezTo>
                    <a:cubicBezTo>
                      <a:pt x="213" y="81"/>
                      <a:pt x="213" y="81"/>
                      <a:pt x="213" y="81"/>
                    </a:cubicBezTo>
                    <a:cubicBezTo>
                      <a:pt x="280" y="39"/>
                      <a:pt x="280" y="39"/>
                      <a:pt x="280" y="39"/>
                    </a:cubicBezTo>
                    <a:lnTo>
                      <a:pt x="280" y="241"/>
                    </a:lnTo>
                    <a:close/>
                    <a:moveTo>
                      <a:pt x="374" y="283"/>
                    </a:moveTo>
                    <a:cubicBezTo>
                      <a:pt x="306" y="241"/>
                      <a:pt x="306" y="241"/>
                      <a:pt x="306" y="241"/>
                    </a:cubicBezTo>
                    <a:cubicBezTo>
                      <a:pt x="306" y="39"/>
                      <a:pt x="306" y="39"/>
                      <a:pt x="306" y="39"/>
                    </a:cubicBezTo>
                    <a:cubicBezTo>
                      <a:pt x="374" y="81"/>
                      <a:pt x="374" y="81"/>
                      <a:pt x="374" y="81"/>
                    </a:cubicBezTo>
                    <a:lnTo>
                      <a:pt x="374" y="28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3575" lIns="107150" spcFirstLastPara="1" rIns="107150" wrap="square" tIns="53575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D8D8D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45" name="Google Shape;445;p18"/>
              <p:cNvSpPr/>
              <p:nvPr/>
            </p:nvSpPr>
            <p:spPr>
              <a:xfrm>
                <a:off x="6665323" y="3562825"/>
                <a:ext cx="587140" cy="587140"/>
              </a:xfrm>
              <a:custGeom>
                <a:rect b="b" l="l" r="r" t="t"/>
                <a:pathLst>
                  <a:path extrusionOk="0" h="384" w="384">
                    <a:moveTo>
                      <a:pt x="192" y="0"/>
                    </a:moveTo>
                    <a:cubicBezTo>
                      <a:pt x="86" y="0"/>
                      <a:pt x="0" y="86"/>
                      <a:pt x="0" y="192"/>
                    </a:cubicBezTo>
                    <a:cubicBezTo>
                      <a:pt x="0" y="298"/>
                      <a:pt x="86" y="384"/>
                      <a:pt x="192" y="384"/>
                    </a:cubicBezTo>
                    <a:cubicBezTo>
                      <a:pt x="298" y="384"/>
                      <a:pt x="384" y="298"/>
                      <a:pt x="384" y="192"/>
                    </a:cubicBezTo>
                    <a:cubicBezTo>
                      <a:pt x="384" y="86"/>
                      <a:pt x="298" y="0"/>
                      <a:pt x="192" y="0"/>
                    </a:cubicBezTo>
                    <a:close/>
                    <a:moveTo>
                      <a:pt x="192" y="349"/>
                    </a:moveTo>
                    <a:cubicBezTo>
                      <a:pt x="105" y="349"/>
                      <a:pt x="35" y="278"/>
                      <a:pt x="35" y="192"/>
                    </a:cubicBezTo>
                    <a:cubicBezTo>
                      <a:pt x="35" y="105"/>
                      <a:pt x="105" y="35"/>
                      <a:pt x="192" y="35"/>
                    </a:cubicBezTo>
                    <a:cubicBezTo>
                      <a:pt x="278" y="35"/>
                      <a:pt x="349" y="105"/>
                      <a:pt x="349" y="192"/>
                    </a:cubicBezTo>
                    <a:cubicBezTo>
                      <a:pt x="349" y="278"/>
                      <a:pt x="278" y="349"/>
                      <a:pt x="192" y="3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3575" lIns="107150" spcFirstLastPara="1" rIns="107150" wrap="square" tIns="53575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D8D8D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446" name="Google Shape;446;p18"/>
            <p:cNvGrpSpPr/>
            <p:nvPr/>
          </p:nvGrpSpPr>
          <p:grpSpPr>
            <a:xfrm>
              <a:off x="7801612" y="3952993"/>
              <a:ext cx="414060" cy="412217"/>
              <a:chOff x="7740352" y="3562825"/>
              <a:chExt cx="587140" cy="587140"/>
            </a:xfrm>
          </p:grpSpPr>
          <p:sp>
            <p:nvSpPr>
              <p:cNvPr id="447" name="Google Shape;447;p18"/>
              <p:cNvSpPr/>
              <p:nvPr/>
            </p:nvSpPr>
            <p:spPr>
              <a:xfrm>
                <a:off x="7740352" y="3562825"/>
                <a:ext cx="587140" cy="587140"/>
              </a:xfrm>
              <a:custGeom>
                <a:rect b="b" l="l" r="r" t="t"/>
                <a:pathLst>
                  <a:path extrusionOk="0" h="384" w="384">
                    <a:moveTo>
                      <a:pt x="192" y="0"/>
                    </a:moveTo>
                    <a:cubicBezTo>
                      <a:pt x="86" y="0"/>
                      <a:pt x="0" y="86"/>
                      <a:pt x="0" y="192"/>
                    </a:cubicBezTo>
                    <a:cubicBezTo>
                      <a:pt x="0" y="298"/>
                      <a:pt x="86" y="384"/>
                      <a:pt x="192" y="384"/>
                    </a:cubicBezTo>
                    <a:cubicBezTo>
                      <a:pt x="298" y="384"/>
                      <a:pt x="384" y="298"/>
                      <a:pt x="384" y="192"/>
                    </a:cubicBezTo>
                    <a:cubicBezTo>
                      <a:pt x="384" y="86"/>
                      <a:pt x="298" y="0"/>
                      <a:pt x="192" y="0"/>
                    </a:cubicBezTo>
                    <a:close/>
                    <a:moveTo>
                      <a:pt x="192" y="349"/>
                    </a:moveTo>
                    <a:cubicBezTo>
                      <a:pt x="105" y="349"/>
                      <a:pt x="35" y="278"/>
                      <a:pt x="35" y="192"/>
                    </a:cubicBezTo>
                    <a:cubicBezTo>
                      <a:pt x="35" y="105"/>
                      <a:pt x="105" y="35"/>
                      <a:pt x="192" y="35"/>
                    </a:cubicBezTo>
                    <a:cubicBezTo>
                      <a:pt x="278" y="35"/>
                      <a:pt x="349" y="105"/>
                      <a:pt x="349" y="192"/>
                    </a:cubicBezTo>
                    <a:cubicBezTo>
                      <a:pt x="349" y="278"/>
                      <a:pt x="278" y="349"/>
                      <a:pt x="192" y="3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3575" lIns="107150" spcFirstLastPara="1" rIns="107150" wrap="square" tIns="53575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D8D8D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48" name="Google Shape;448;p18"/>
              <p:cNvSpPr/>
              <p:nvPr/>
            </p:nvSpPr>
            <p:spPr>
              <a:xfrm>
                <a:off x="7931746" y="3722078"/>
                <a:ext cx="204352" cy="268635"/>
              </a:xfrm>
              <a:custGeom>
                <a:rect b="b" l="l" r="r" t="t"/>
                <a:pathLst>
                  <a:path extrusionOk="0" h="336" w="256">
                    <a:moveTo>
                      <a:pt x="96" y="48"/>
                    </a:moveTo>
                    <a:cubicBezTo>
                      <a:pt x="96" y="21"/>
                      <a:pt x="74" y="0"/>
                      <a:pt x="48" y="0"/>
                    </a:cubicBezTo>
                    <a:cubicBezTo>
                      <a:pt x="21" y="0"/>
                      <a:pt x="0" y="21"/>
                      <a:pt x="0" y="48"/>
                    </a:cubicBezTo>
                    <a:cubicBezTo>
                      <a:pt x="0" y="68"/>
                      <a:pt x="12" y="85"/>
                      <a:pt x="29" y="92"/>
                    </a:cubicBezTo>
                    <a:cubicBezTo>
                      <a:pt x="29" y="244"/>
                      <a:pt x="29" y="244"/>
                      <a:pt x="29" y="244"/>
                    </a:cubicBezTo>
                    <a:cubicBezTo>
                      <a:pt x="12" y="251"/>
                      <a:pt x="0" y="268"/>
                      <a:pt x="0" y="288"/>
                    </a:cubicBezTo>
                    <a:cubicBezTo>
                      <a:pt x="0" y="314"/>
                      <a:pt x="21" y="336"/>
                      <a:pt x="48" y="336"/>
                    </a:cubicBezTo>
                    <a:cubicBezTo>
                      <a:pt x="74" y="336"/>
                      <a:pt x="96" y="314"/>
                      <a:pt x="96" y="288"/>
                    </a:cubicBezTo>
                    <a:cubicBezTo>
                      <a:pt x="96" y="268"/>
                      <a:pt x="84" y="251"/>
                      <a:pt x="67" y="244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84" y="85"/>
                      <a:pt x="96" y="68"/>
                      <a:pt x="96" y="48"/>
                    </a:cubicBezTo>
                    <a:close/>
                    <a:moveTo>
                      <a:pt x="75" y="288"/>
                    </a:moveTo>
                    <a:cubicBezTo>
                      <a:pt x="75" y="303"/>
                      <a:pt x="63" y="316"/>
                      <a:pt x="48" y="316"/>
                    </a:cubicBezTo>
                    <a:cubicBezTo>
                      <a:pt x="32" y="316"/>
                      <a:pt x="20" y="303"/>
                      <a:pt x="20" y="288"/>
                    </a:cubicBezTo>
                    <a:cubicBezTo>
                      <a:pt x="20" y="273"/>
                      <a:pt x="32" y="260"/>
                      <a:pt x="48" y="260"/>
                    </a:cubicBezTo>
                    <a:cubicBezTo>
                      <a:pt x="63" y="260"/>
                      <a:pt x="75" y="273"/>
                      <a:pt x="75" y="288"/>
                    </a:cubicBezTo>
                    <a:close/>
                    <a:moveTo>
                      <a:pt x="48" y="76"/>
                    </a:moveTo>
                    <a:cubicBezTo>
                      <a:pt x="32" y="76"/>
                      <a:pt x="20" y="63"/>
                      <a:pt x="20" y="48"/>
                    </a:cubicBezTo>
                    <a:cubicBezTo>
                      <a:pt x="20" y="33"/>
                      <a:pt x="32" y="20"/>
                      <a:pt x="48" y="20"/>
                    </a:cubicBezTo>
                    <a:cubicBezTo>
                      <a:pt x="63" y="20"/>
                      <a:pt x="75" y="33"/>
                      <a:pt x="75" y="48"/>
                    </a:cubicBezTo>
                    <a:cubicBezTo>
                      <a:pt x="75" y="63"/>
                      <a:pt x="63" y="76"/>
                      <a:pt x="48" y="76"/>
                    </a:cubicBezTo>
                    <a:close/>
                    <a:moveTo>
                      <a:pt x="227" y="244"/>
                    </a:moveTo>
                    <a:cubicBezTo>
                      <a:pt x="227" y="92"/>
                      <a:pt x="227" y="92"/>
                      <a:pt x="227" y="92"/>
                    </a:cubicBezTo>
                    <a:cubicBezTo>
                      <a:pt x="244" y="85"/>
                      <a:pt x="256" y="68"/>
                      <a:pt x="256" y="48"/>
                    </a:cubicBezTo>
                    <a:cubicBezTo>
                      <a:pt x="256" y="21"/>
                      <a:pt x="234" y="0"/>
                      <a:pt x="208" y="0"/>
                    </a:cubicBezTo>
                    <a:cubicBezTo>
                      <a:pt x="181" y="0"/>
                      <a:pt x="160" y="21"/>
                      <a:pt x="160" y="48"/>
                    </a:cubicBezTo>
                    <a:cubicBezTo>
                      <a:pt x="160" y="68"/>
                      <a:pt x="172" y="85"/>
                      <a:pt x="189" y="92"/>
                    </a:cubicBezTo>
                    <a:cubicBezTo>
                      <a:pt x="189" y="244"/>
                      <a:pt x="189" y="244"/>
                      <a:pt x="189" y="244"/>
                    </a:cubicBezTo>
                    <a:cubicBezTo>
                      <a:pt x="172" y="251"/>
                      <a:pt x="160" y="268"/>
                      <a:pt x="160" y="288"/>
                    </a:cubicBezTo>
                    <a:cubicBezTo>
                      <a:pt x="160" y="314"/>
                      <a:pt x="181" y="336"/>
                      <a:pt x="208" y="336"/>
                    </a:cubicBezTo>
                    <a:cubicBezTo>
                      <a:pt x="234" y="336"/>
                      <a:pt x="256" y="314"/>
                      <a:pt x="256" y="288"/>
                    </a:cubicBezTo>
                    <a:cubicBezTo>
                      <a:pt x="256" y="268"/>
                      <a:pt x="244" y="251"/>
                      <a:pt x="227" y="244"/>
                    </a:cubicBezTo>
                    <a:close/>
                    <a:moveTo>
                      <a:pt x="180" y="48"/>
                    </a:moveTo>
                    <a:cubicBezTo>
                      <a:pt x="180" y="33"/>
                      <a:pt x="192" y="20"/>
                      <a:pt x="208" y="20"/>
                    </a:cubicBezTo>
                    <a:cubicBezTo>
                      <a:pt x="223" y="20"/>
                      <a:pt x="235" y="33"/>
                      <a:pt x="235" y="48"/>
                    </a:cubicBezTo>
                    <a:cubicBezTo>
                      <a:pt x="235" y="63"/>
                      <a:pt x="223" y="76"/>
                      <a:pt x="208" y="76"/>
                    </a:cubicBezTo>
                    <a:cubicBezTo>
                      <a:pt x="192" y="76"/>
                      <a:pt x="180" y="63"/>
                      <a:pt x="180" y="48"/>
                    </a:cubicBezTo>
                    <a:close/>
                    <a:moveTo>
                      <a:pt x="208" y="316"/>
                    </a:moveTo>
                    <a:cubicBezTo>
                      <a:pt x="192" y="316"/>
                      <a:pt x="180" y="303"/>
                      <a:pt x="180" y="288"/>
                    </a:cubicBezTo>
                    <a:cubicBezTo>
                      <a:pt x="180" y="273"/>
                      <a:pt x="192" y="260"/>
                      <a:pt x="208" y="260"/>
                    </a:cubicBezTo>
                    <a:cubicBezTo>
                      <a:pt x="223" y="260"/>
                      <a:pt x="235" y="273"/>
                      <a:pt x="235" y="288"/>
                    </a:cubicBezTo>
                    <a:cubicBezTo>
                      <a:pt x="235" y="303"/>
                      <a:pt x="223" y="316"/>
                      <a:pt x="208" y="3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3575" lIns="107150" spcFirstLastPara="1" rIns="107150" wrap="square" tIns="53575">
                <a:noAutofit/>
              </a:bodyPr>
              <a:lstStyle/>
              <a:p>
                <a:pPr indent="0" lvl="0" marL="0" marR="0" rtl="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10"/>
                  <a:buFont typeface="Arial"/>
                  <a:buNone/>
                </a:pPr>
                <a:r>
                  <a:t/>
                </a:r>
                <a:endParaRPr b="0" i="0" sz="610" u="none" cap="none" strike="noStrike">
                  <a:solidFill>
                    <a:srgbClr val="D8D8D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449" name="Google Shape;449;p18"/>
          <p:cNvSpPr txBox="1"/>
          <p:nvPr/>
        </p:nvSpPr>
        <p:spPr>
          <a:xfrm>
            <a:off x="327238" y="419100"/>
            <a:ext cx="375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Detail Implementation 範例輸出</a:t>
            </a:r>
            <a:endParaRPr b="1" i="0" sz="16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50" name="Google Shape;450;p18"/>
          <p:cNvGraphicFramePr/>
          <p:nvPr/>
        </p:nvGraphicFramePr>
        <p:xfrm>
          <a:off x="3834872" y="10677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{CF388652-B627-45A9-84E4-4845546196B7}</a:tableStyleId>
              </a:tblPr>
              <a:tblGrid>
                <a:gridCol w="1338875"/>
                <a:gridCol w="1541825"/>
                <a:gridCol w="1440350"/>
              </a:tblGrid>
              <a:tr h="56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特徵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筆記型電腦 A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(高階效能款)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筆記型電腦 B (輕薄文書款)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價格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$45,000 TWD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$25,000 TWD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處理器 (CPU)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 Core i7-14700H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 Core i5-1335U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記憶體 (RAM)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 GB DDR5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GB DDR4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獨立顯卡 (GPU)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NVIDIA RTX 4060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無 (僅內顯)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螢幕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15.6 吋 / 2.5K / 165Hz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吋 / FHD / 60Hz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重量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 kg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 kg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續航力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約 4 小時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約 10 小時</a:t>
                      </a:r>
                      <a:endParaRPr sz="14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</a:tbl>
          </a:graphicData>
        </a:graphic>
      </p:graphicFrame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5"/>
          <p:cNvSpPr txBox="1"/>
          <p:nvPr>
            <p:ph type="title"/>
          </p:nvPr>
        </p:nvSpPr>
        <p:spPr>
          <a:xfrm>
            <a:off x="516000" y="340900"/>
            <a:ext cx="36633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F3F3F"/>
                </a:solidFill>
              </a:rPr>
              <a:t>Detail Implementation 範例輸出</a:t>
            </a:r>
            <a:endParaRPr sz="1800"/>
          </a:p>
        </p:txBody>
      </p:sp>
      <p:graphicFrame>
        <p:nvGraphicFramePr>
          <p:cNvPr id="456" name="Google Shape;456;p95"/>
          <p:cNvGraphicFramePr/>
          <p:nvPr/>
        </p:nvGraphicFramePr>
        <p:xfrm>
          <a:off x="563215" y="113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{CF388652-B627-45A9-84E4-4845546196B7}</a:tableStyleId>
              </a:tblPr>
              <a:tblGrid>
                <a:gridCol w="904050"/>
                <a:gridCol w="904050"/>
                <a:gridCol w="904050"/>
                <a:gridCol w="904050"/>
              </a:tblGrid>
              <a:tr h="42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比較項目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筆記型電腦 A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筆記型電腦 B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比較結果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效能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頂尖 (可處理 3D 渲染、高畫質遊戲)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良好 (適合文書處理、網頁瀏覽)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大幅領先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5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便攜性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低 (較重、需常充電)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 (極輕薄、電池續航強)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大幅領先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5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價格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貴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便宜 ($55% A 的價格)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勝出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11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總體 CP 值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適合重度專業/遊戲玩家，以高價換取極致效能。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適合日常使用者/學生，以較低價格換取足夠效能和極佳的便攜性。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優先推薦B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</a:tbl>
          </a:graphicData>
        </a:graphic>
      </p:graphicFrame>
      <p:graphicFrame>
        <p:nvGraphicFramePr>
          <p:cNvPr id="457" name="Google Shape;457;p95"/>
          <p:cNvGraphicFramePr/>
          <p:nvPr/>
        </p:nvGraphicFramePr>
        <p:xfrm>
          <a:off x="4492486" y="796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{CF388652-B627-45A9-84E4-4845546196B7}</a:tableStyleId>
              </a:tblPr>
              <a:tblGrid>
                <a:gridCol w="965750"/>
                <a:gridCol w="965750"/>
                <a:gridCol w="965750"/>
                <a:gridCol w="965750"/>
              </a:tblGrid>
              <a:tr h="39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關鍵特徵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最高分 (滿分)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權重 (%)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說明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91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處理器 (CPU)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筆電運算的核心，影響多工處理和軟體執行速度。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78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記憶體 (RAM)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25%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影響程式開啟速度和同時運作的順暢度。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6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螢幕/顯示卡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影響視覺體驗、設計工作和遊戲性能。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6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儲存空間/續航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影響開機速度和移動辦公的便利性。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  <a:tr h="26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總計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B1C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14300" marL="114300" anchor="ctr"/>
                </a:tc>
              </a:tr>
            </a:tbl>
          </a:graphicData>
        </a:graphic>
      </p:graphicFrame>
    </p:spTree>
  </p:cSld>
  <p:clrMapOvr>
    <a:masterClrMapping/>
  </p:clrMapOvr>
  <p:transition advTm="3000" spd="slow" p14:dur="1500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2" name="Google Shape;462;p96"/>
          <p:cNvGraphicFramePr/>
          <p:nvPr/>
        </p:nvGraphicFramePr>
        <p:xfrm>
          <a:off x="5917096" y="7951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{0DC52AE9-90D0-4135-B1DA-89151393DDED}</a:tableStyleId>
              </a:tblPr>
              <a:tblGrid>
                <a:gridCol w="578400"/>
                <a:gridCol w="535200"/>
                <a:gridCol w="536600"/>
                <a:gridCol w="390650"/>
                <a:gridCol w="1004325"/>
              </a:tblGrid>
              <a:tr h="42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規格與分數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筆電 A (價格 $30,000)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筆電 B (價格 $40,000)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權重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計算式 (權重 × 分數)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處理器 (35 分)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分數：25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分數：33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0.35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A: $0.35 \times 25 = 8.75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B: $0.35 \times 33 = 11.55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記憶體 (25 分)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分數：15(8GB)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分數：22 (16GB)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0.25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A: $0.25 \times 15 = 3.75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B: $0.25 \times 22 = 5.50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42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螢幕/顯卡 (20 分)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分數：10 (FHD/內顯)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分數：18 (2K/獨顯)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0.20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A: $0.20 \times 10 = 2.00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B: $0.20 \times 18 = 3.60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儲存/續航 (20 分)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分數：15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分數：17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0.20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A: $0.20 \times 15 = 3.00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B: $0.20 \times 17 = 3.40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綜合效能總分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17.50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F0000"/>
                          </a:solidFill>
                        </a:rPr>
                        <a:t>24.05</a:t>
                      </a:r>
                      <a:endParaRPr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/>
                        <a:t>(分數加總)</a:t>
                      </a:r>
                      <a:endParaRPr sz="800" u="none" cap="none" strike="noStrike">
                        <a:solidFill>
                          <a:srgbClr val="1B1C1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575" marB="44575" marR="66850" marL="66850" anchor="ctr"/>
                </a:tc>
              </a:tr>
            </a:tbl>
          </a:graphicData>
        </a:graphic>
      </p:graphicFrame>
      <p:graphicFrame>
        <p:nvGraphicFramePr>
          <p:cNvPr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id="463" name="Google Shape;463;p96"/>
          <p:cNvGraphicFramePr/>
          <p:nvPr/>
        </p:nvGraphicFramePr>
        <p:xfrm>
          <a:off x="112650" y="541825"/>
          <a:ext cx="5455500" cy="43359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  <p:transition advTm="3000" spd="slow" p14:dur="1500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7"/>
          <p:cNvSpPr/>
          <p:nvPr/>
        </p:nvSpPr>
        <p:spPr>
          <a:xfrm>
            <a:off x="3835328" y="2120084"/>
            <a:ext cx="1350000" cy="135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rPr>
              <a:t>結果</a:t>
            </a:r>
            <a:endParaRPr b="1" i="0" sz="2100" u="none" cap="none" strike="noStrike">
              <a:solidFill>
                <a:srgbClr val="FFFA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0" name="Google Shape;470;p97"/>
          <p:cNvGrpSpPr/>
          <p:nvPr/>
        </p:nvGrpSpPr>
        <p:grpSpPr>
          <a:xfrm>
            <a:off x="752845" y="1752026"/>
            <a:ext cx="2666025" cy="642938"/>
            <a:chOff x="1268837" y="1708766"/>
            <a:chExt cx="3554700" cy="857250"/>
          </a:xfrm>
        </p:grpSpPr>
        <p:sp>
          <p:nvSpPr>
            <p:cNvPr id="471" name="Google Shape;471;p97"/>
            <p:cNvSpPr/>
            <p:nvPr/>
          </p:nvSpPr>
          <p:spPr>
            <a:xfrm>
              <a:off x="1268837" y="1708766"/>
              <a:ext cx="3554700" cy="857250"/>
            </a:xfrm>
            <a:custGeom>
              <a:rect b="b" l="l" r="r" t="t"/>
              <a:pathLst>
                <a:path extrusionOk="0" h="720" w="1884">
                  <a:moveTo>
                    <a:pt x="1884" y="720"/>
                  </a:moveTo>
                  <a:lnTo>
                    <a:pt x="1506" y="0"/>
                  </a:lnTo>
                  <a:lnTo>
                    <a:pt x="0" y="0"/>
                  </a:lnTo>
                  <a:lnTo>
                    <a:pt x="0" y="720"/>
                  </a:lnTo>
                  <a:lnTo>
                    <a:pt x="1884" y="7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1" i="0" sz="135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2" name="Google Shape;472;p97"/>
            <p:cNvSpPr txBox="1"/>
            <p:nvPr/>
          </p:nvSpPr>
          <p:spPr>
            <a:xfrm>
              <a:off x="1268837" y="1927192"/>
              <a:ext cx="2971859" cy="4103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不同品類商品比較</a:t>
              </a:r>
              <a:endParaRPr b="1" i="0" sz="14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3" name="Google Shape;473;p97"/>
          <p:cNvGrpSpPr/>
          <p:nvPr/>
        </p:nvGrpSpPr>
        <p:grpSpPr>
          <a:xfrm>
            <a:off x="752845" y="2481867"/>
            <a:ext cx="2970000" cy="715971"/>
            <a:chOff x="1268837" y="2681888"/>
            <a:chExt cx="3960000" cy="954628"/>
          </a:xfrm>
        </p:grpSpPr>
        <p:sp>
          <p:nvSpPr>
            <p:cNvPr id="474" name="Google Shape;474;p97"/>
            <p:cNvSpPr/>
            <p:nvPr/>
          </p:nvSpPr>
          <p:spPr>
            <a:xfrm>
              <a:off x="1268837" y="2681888"/>
              <a:ext cx="3960000" cy="863600"/>
            </a:xfrm>
            <a:custGeom>
              <a:rect b="b" l="l" r="r" t="t"/>
              <a:pathLst>
                <a:path extrusionOk="0" h="726" w="2130">
                  <a:moveTo>
                    <a:pt x="1938" y="726"/>
                  </a:moveTo>
                  <a:lnTo>
                    <a:pt x="2130" y="366"/>
                  </a:lnTo>
                  <a:lnTo>
                    <a:pt x="1932" y="0"/>
                  </a:lnTo>
                  <a:lnTo>
                    <a:pt x="0" y="0"/>
                  </a:lnTo>
                  <a:lnTo>
                    <a:pt x="0" y="726"/>
                  </a:lnTo>
                  <a:lnTo>
                    <a:pt x="1938" y="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1" i="0" sz="135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5" name="Google Shape;475;p97"/>
            <p:cNvSpPr txBox="1"/>
            <p:nvPr/>
          </p:nvSpPr>
          <p:spPr>
            <a:xfrm>
              <a:off x="1313010" y="2897907"/>
              <a:ext cx="3132813" cy="738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實驗次數：30組測試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6" name="Google Shape;476;p97"/>
          <p:cNvGrpSpPr/>
          <p:nvPr/>
        </p:nvGrpSpPr>
        <p:grpSpPr>
          <a:xfrm>
            <a:off x="752845" y="3216364"/>
            <a:ext cx="2640198" cy="769044"/>
            <a:chOff x="1268837" y="3661222"/>
            <a:chExt cx="3520264" cy="1025393"/>
          </a:xfrm>
        </p:grpSpPr>
        <p:sp>
          <p:nvSpPr>
            <p:cNvPr id="477" name="Google Shape;477;p97"/>
            <p:cNvSpPr/>
            <p:nvPr/>
          </p:nvSpPr>
          <p:spPr>
            <a:xfrm>
              <a:off x="1268837" y="3661222"/>
              <a:ext cx="3520264" cy="863600"/>
            </a:xfrm>
            <a:custGeom>
              <a:rect b="b" l="l" r="r" t="t"/>
              <a:pathLst>
                <a:path extrusionOk="0" h="726" w="1890">
                  <a:moveTo>
                    <a:pt x="1890" y="0"/>
                  </a:moveTo>
                  <a:lnTo>
                    <a:pt x="0" y="0"/>
                  </a:lnTo>
                  <a:lnTo>
                    <a:pt x="0" y="726"/>
                  </a:lnTo>
                  <a:lnTo>
                    <a:pt x="1506" y="726"/>
                  </a:lnTo>
                  <a:lnTo>
                    <a:pt x="18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1" i="0" sz="135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8" name="Google Shape;478;p97"/>
            <p:cNvSpPr txBox="1"/>
            <p:nvPr/>
          </p:nvSpPr>
          <p:spPr>
            <a:xfrm>
              <a:off x="1268837" y="3763338"/>
              <a:ext cx="3079501" cy="923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指標：準確率、分析速度、</a:t>
              </a:r>
              <a:endParaRPr b="1" i="0" sz="12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用戶滿意度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9" name="Google Shape;479;p97"/>
          <p:cNvGrpSpPr/>
          <p:nvPr/>
        </p:nvGrpSpPr>
        <p:grpSpPr>
          <a:xfrm>
            <a:off x="5624496" y="1742911"/>
            <a:ext cx="2643317" cy="742970"/>
            <a:chOff x="7764372" y="1696614"/>
            <a:chExt cx="3524422" cy="990626"/>
          </a:xfrm>
        </p:grpSpPr>
        <p:sp>
          <p:nvSpPr>
            <p:cNvPr id="480" name="Google Shape;480;p97"/>
            <p:cNvSpPr/>
            <p:nvPr/>
          </p:nvSpPr>
          <p:spPr>
            <a:xfrm flipH="1">
              <a:off x="7764372" y="1696614"/>
              <a:ext cx="3524422" cy="857250"/>
            </a:xfrm>
            <a:custGeom>
              <a:rect b="b" l="l" r="r" t="t"/>
              <a:pathLst>
                <a:path extrusionOk="0" h="720" w="1884">
                  <a:moveTo>
                    <a:pt x="1884" y="720"/>
                  </a:moveTo>
                  <a:lnTo>
                    <a:pt x="1506" y="0"/>
                  </a:lnTo>
                  <a:lnTo>
                    <a:pt x="0" y="0"/>
                  </a:lnTo>
                  <a:lnTo>
                    <a:pt x="0" y="720"/>
                  </a:lnTo>
                  <a:lnTo>
                    <a:pt x="1884" y="7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1" i="0" sz="135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1" name="Google Shape;481;p97"/>
            <p:cNvSpPr txBox="1"/>
            <p:nvPr/>
          </p:nvSpPr>
          <p:spPr>
            <a:xfrm>
              <a:off x="8387075" y="1948631"/>
              <a:ext cx="2726415" cy="738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分析時間 &lt; 3 秒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2" name="Google Shape;482;p97"/>
          <p:cNvGrpSpPr/>
          <p:nvPr/>
        </p:nvGrpSpPr>
        <p:grpSpPr>
          <a:xfrm>
            <a:off x="5297813" y="2465619"/>
            <a:ext cx="2970000" cy="755632"/>
            <a:chOff x="7328794" y="2660226"/>
            <a:chExt cx="3960000" cy="1007510"/>
          </a:xfrm>
        </p:grpSpPr>
        <p:sp>
          <p:nvSpPr>
            <p:cNvPr id="483" name="Google Shape;483;p97"/>
            <p:cNvSpPr/>
            <p:nvPr/>
          </p:nvSpPr>
          <p:spPr>
            <a:xfrm flipH="1">
              <a:off x="7328794" y="2660226"/>
              <a:ext cx="3960000" cy="865188"/>
            </a:xfrm>
            <a:custGeom>
              <a:rect b="b" l="l" r="r" t="t"/>
              <a:pathLst>
                <a:path extrusionOk="0" h="726" w="2130">
                  <a:moveTo>
                    <a:pt x="1938" y="726"/>
                  </a:moveTo>
                  <a:lnTo>
                    <a:pt x="2130" y="366"/>
                  </a:lnTo>
                  <a:lnTo>
                    <a:pt x="1932" y="0"/>
                  </a:lnTo>
                  <a:lnTo>
                    <a:pt x="0" y="0"/>
                  </a:lnTo>
                  <a:lnTo>
                    <a:pt x="0" y="726"/>
                  </a:lnTo>
                  <a:lnTo>
                    <a:pt x="1938" y="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1" i="0" sz="135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4" name="Google Shape;484;p97"/>
            <p:cNvSpPr txBox="1"/>
            <p:nvPr/>
          </p:nvSpPr>
          <p:spPr>
            <a:xfrm>
              <a:off x="8387075" y="2929126"/>
              <a:ext cx="2805060" cy="73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準確率達90%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5" name="Google Shape;485;p97"/>
          <p:cNvGrpSpPr/>
          <p:nvPr/>
        </p:nvGrpSpPr>
        <p:grpSpPr>
          <a:xfrm>
            <a:off x="5618547" y="3200238"/>
            <a:ext cx="2809756" cy="727763"/>
            <a:chOff x="7756436" y="3639715"/>
            <a:chExt cx="3746340" cy="970351"/>
          </a:xfrm>
        </p:grpSpPr>
        <p:sp>
          <p:nvSpPr>
            <p:cNvPr id="486" name="Google Shape;486;p97"/>
            <p:cNvSpPr/>
            <p:nvPr/>
          </p:nvSpPr>
          <p:spPr>
            <a:xfrm flipH="1">
              <a:off x="7756436" y="3639715"/>
              <a:ext cx="3532358" cy="865187"/>
            </a:xfrm>
            <a:custGeom>
              <a:rect b="b" l="l" r="r" t="t"/>
              <a:pathLst>
                <a:path extrusionOk="0" h="726" w="1890">
                  <a:moveTo>
                    <a:pt x="1890" y="0"/>
                  </a:moveTo>
                  <a:lnTo>
                    <a:pt x="0" y="0"/>
                  </a:lnTo>
                  <a:lnTo>
                    <a:pt x="0" y="726"/>
                  </a:lnTo>
                  <a:lnTo>
                    <a:pt x="1506" y="726"/>
                  </a:lnTo>
                  <a:lnTo>
                    <a:pt x="18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1" i="0" sz="135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7" name="Google Shape;487;p97"/>
            <p:cNvSpPr txBox="1"/>
            <p:nvPr/>
          </p:nvSpPr>
          <p:spPr>
            <a:xfrm>
              <a:off x="8076433" y="3871456"/>
              <a:ext cx="3426343" cy="73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減少使用者決策時間70%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88" name="Google Shape;488;p97"/>
          <p:cNvSpPr/>
          <p:nvPr/>
        </p:nvSpPr>
        <p:spPr>
          <a:xfrm>
            <a:off x="2422285" y="4080794"/>
            <a:ext cx="4651513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為驗證系統效能，進行以下測試與分析</a:t>
            </a:r>
            <a:endParaRPr b="0" i="0" sz="15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→ 本系統能快速提供高準確CP值比較結果。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97"/>
          <p:cNvSpPr txBox="1"/>
          <p:nvPr/>
        </p:nvSpPr>
        <p:spPr>
          <a:xfrm>
            <a:off x="321543" y="400879"/>
            <a:ext cx="2784260" cy="33851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Experiments實驗設計</a:t>
            </a:r>
            <a:endParaRPr b="1" i="0" sz="16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97"/>
          <p:cNvSpPr txBox="1"/>
          <p:nvPr/>
        </p:nvSpPr>
        <p:spPr>
          <a:xfrm>
            <a:off x="5360504" y="400879"/>
            <a:ext cx="3723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Experiments結果與分析</a:t>
            </a:r>
            <a:endParaRPr b="1" i="0" sz="16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21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497" name="Google Shape;497;p21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99" name="Google Shape;499;p21"/>
          <p:cNvSpPr txBox="1"/>
          <p:nvPr/>
        </p:nvSpPr>
        <p:spPr>
          <a:xfrm>
            <a:off x="990600" y="2175975"/>
            <a:ext cx="1140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3099800" y="2112075"/>
            <a:ext cx="5754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Conclusion研究成果</a:t>
            </a:r>
            <a:endParaRPr b="1" i="0" sz="4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6"/>
          <p:cNvGrpSpPr/>
          <p:nvPr/>
        </p:nvGrpSpPr>
        <p:grpSpPr>
          <a:xfrm>
            <a:off x="5356144" y="1732748"/>
            <a:ext cx="2558945" cy="2058725"/>
            <a:chOff x="7221038" y="2257320"/>
            <a:chExt cx="3411927" cy="2744967"/>
          </a:xfrm>
        </p:grpSpPr>
        <p:sp>
          <p:nvSpPr>
            <p:cNvPr id="507" name="Google Shape;507;p6"/>
            <p:cNvSpPr/>
            <p:nvPr/>
          </p:nvSpPr>
          <p:spPr>
            <a:xfrm>
              <a:off x="7303485" y="2257320"/>
              <a:ext cx="3329480" cy="304800"/>
            </a:xfrm>
            <a:custGeom>
              <a:rect b="b" l="l" r="r" t="t"/>
              <a:pathLst>
                <a:path extrusionOk="0" h="568960" w="344424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noFill/>
            <a:ln cap="flat" cmpd="sng" w="9525">
              <a:solidFill>
                <a:schemeClr val="accent2">
                  <a:alpha val="49019"/>
                </a:schemeClr>
              </a:solidFill>
              <a:prstDash val="solid"/>
              <a:miter lim="800000"/>
              <a:headEnd len="sm" w="sm" type="none"/>
              <a:tailEnd len="lg" w="lg" type="oval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 flipH="1" rot="10800000">
              <a:off x="7221038" y="4697487"/>
              <a:ext cx="3329480" cy="304800"/>
            </a:xfrm>
            <a:custGeom>
              <a:rect b="b" l="l" r="r" t="t"/>
              <a:pathLst>
                <a:path extrusionOk="0" h="568960" w="344424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noFill/>
            <a:ln cap="flat" cmpd="sng" w="9525">
              <a:solidFill>
                <a:schemeClr val="accent2">
                  <a:alpha val="49019"/>
                </a:schemeClr>
              </a:solidFill>
              <a:prstDash val="solid"/>
              <a:miter lim="800000"/>
              <a:headEnd len="sm" w="sm" type="none"/>
              <a:tailEnd len="lg" w="lg" type="oval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09" name="Google Shape;509;p6"/>
          <p:cNvGrpSpPr/>
          <p:nvPr/>
        </p:nvGrpSpPr>
        <p:grpSpPr>
          <a:xfrm>
            <a:off x="1283234" y="1634110"/>
            <a:ext cx="2419122" cy="2142152"/>
            <a:chOff x="1790492" y="2125803"/>
            <a:chExt cx="3225496" cy="2856203"/>
          </a:xfrm>
        </p:grpSpPr>
        <p:sp>
          <p:nvSpPr>
            <p:cNvPr id="510" name="Google Shape;510;p6"/>
            <p:cNvSpPr/>
            <p:nvPr/>
          </p:nvSpPr>
          <p:spPr>
            <a:xfrm flipH="1">
              <a:off x="1841868" y="2125803"/>
              <a:ext cx="3174120" cy="304800"/>
            </a:xfrm>
            <a:custGeom>
              <a:rect b="b" l="l" r="r" t="t"/>
              <a:pathLst>
                <a:path extrusionOk="0" h="568960" w="344424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noFill/>
            <a:ln cap="flat" cmpd="sng" w="9525">
              <a:solidFill>
                <a:schemeClr val="accent2">
                  <a:alpha val="49019"/>
                </a:schemeClr>
              </a:solidFill>
              <a:prstDash val="solid"/>
              <a:miter lim="800000"/>
              <a:headEnd len="sm" w="sm" type="none"/>
              <a:tailEnd len="lg" w="lg" type="oval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 rot="10800000">
              <a:off x="1790492" y="4677206"/>
              <a:ext cx="3174120" cy="304800"/>
            </a:xfrm>
            <a:custGeom>
              <a:rect b="b" l="l" r="r" t="t"/>
              <a:pathLst>
                <a:path extrusionOk="0" h="568960" w="344424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noFill/>
            <a:ln cap="flat" cmpd="sng" w="9525">
              <a:solidFill>
                <a:schemeClr val="accent2">
                  <a:alpha val="49019"/>
                </a:schemeClr>
              </a:solidFill>
              <a:prstDash val="solid"/>
              <a:miter lim="800000"/>
              <a:headEnd len="sm" w="sm" type="none"/>
              <a:tailEnd len="lg" w="lg" type="oval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12" name="Google Shape;512;p6"/>
          <p:cNvGrpSpPr/>
          <p:nvPr/>
        </p:nvGrpSpPr>
        <p:grpSpPr>
          <a:xfrm>
            <a:off x="3234505" y="1446076"/>
            <a:ext cx="2550955" cy="2550954"/>
            <a:chOff x="4392188" y="1875091"/>
            <a:chExt cx="3401274" cy="3401273"/>
          </a:xfrm>
        </p:grpSpPr>
        <p:grpSp>
          <p:nvGrpSpPr>
            <p:cNvPr id="513" name="Google Shape;513;p6"/>
            <p:cNvGrpSpPr/>
            <p:nvPr/>
          </p:nvGrpSpPr>
          <p:grpSpPr>
            <a:xfrm>
              <a:off x="4392188" y="1875091"/>
              <a:ext cx="2267515" cy="2267515"/>
              <a:chOff x="4392188" y="1725189"/>
              <a:chExt cx="2267515" cy="2267515"/>
            </a:xfrm>
          </p:grpSpPr>
          <p:sp>
            <p:nvSpPr>
              <p:cNvPr id="514" name="Google Shape;514;p6"/>
              <p:cNvSpPr/>
              <p:nvPr/>
            </p:nvSpPr>
            <p:spPr>
              <a:xfrm rot="2700000">
                <a:off x="4724258" y="2057259"/>
                <a:ext cx="1603375" cy="1603375"/>
              </a:xfrm>
              <a:custGeom>
                <a:rect b="b" l="l" r="r" t="t"/>
                <a:pathLst>
                  <a:path extrusionOk="0" h="426" w="426">
                    <a:moveTo>
                      <a:pt x="426" y="213"/>
                    </a:moveTo>
                    <a:cubicBezTo>
                      <a:pt x="308" y="213"/>
                      <a:pt x="213" y="117"/>
                      <a:pt x="213" y="0"/>
                    </a:cubicBezTo>
                    <a:cubicBezTo>
                      <a:pt x="96" y="0"/>
                      <a:pt x="0" y="95"/>
                      <a:pt x="0" y="213"/>
                    </a:cubicBezTo>
                    <a:cubicBezTo>
                      <a:pt x="0" y="330"/>
                      <a:pt x="96" y="426"/>
                      <a:pt x="213" y="426"/>
                    </a:cubicBezTo>
                    <a:cubicBezTo>
                      <a:pt x="213" y="308"/>
                      <a:pt x="308" y="213"/>
                      <a:pt x="426" y="2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1" i="0" sz="1500" u="none" cap="none" strike="noStrike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15" name="Google Shape;515;p6"/>
              <p:cNvSpPr txBox="1"/>
              <p:nvPr/>
            </p:nvSpPr>
            <p:spPr>
              <a:xfrm>
                <a:off x="4909553" y="2491492"/>
                <a:ext cx="889374" cy="455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擷取</a:t>
                </a:r>
                <a:endParaRPr b="1" i="0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516" name="Google Shape;516;p6"/>
            <p:cNvGrpSpPr/>
            <p:nvPr/>
          </p:nvGrpSpPr>
          <p:grpSpPr>
            <a:xfrm>
              <a:off x="5525947" y="1875091"/>
              <a:ext cx="2267515" cy="2267515"/>
              <a:chOff x="5525947" y="1725189"/>
              <a:chExt cx="2267515" cy="2267515"/>
            </a:xfrm>
          </p:grpSpPr>
          <p:sp>
            <p:nvSpPr>
              <p:cNvPr id="517" name="Google Shape;517;p6"/>
              <p:cNvSpPr/>
              <p:nvPr/>
            </p:nvSpPr>
            <p:spPr>
              <a:xfrm rot="2700000">
                <a:off x="5858017" y="2057259"/>
                <a:ext cx="1603375" cy="1603375"/>
              </a:xfrm>
              <a:custGeom>
                <a:rect b="b" l="l" r="r" t="t"/>
                <a:pathLst>
                  <a:path extrusionOk="0" h="426" w="426">
                    <a:moveTo>
                      <a:pt x="213" y="426"/>
                    </a:moveTo>
                    <a:cubicBezTo>
                      <a:pt x="213" y="426"/>
                      <a:pt x="213" y="426"/>
                      <a:pt x="213" y="426"/>
                    </a:cubicBezTo>
                    <a:cubicBezTo>
                      <a:pt x="213" y="426"/>
                      <a:pt x="213" y="426"/>
                      <a:pt x="213" y="426"/>
                    </a:cubicBezTo>
                    <a:cubicBezTo>
                      <a:pt x="213" y="308"/>
                      <a:pt x="308" y="213"/>
                      <a:pt x="426" y="213"/>
                    </a:cubicBezTo>
                    <a:cubicBezTo>
                      <a:pt x="426" y="95"/>
                      <a:pt x="331" y="0"/>
                      <a:pt x="213" y="0"/>
                    </a:cubicBezTo>
                    <a:cubicBezTo>
                      <a:pt x="95" y="0"/>
                      <a:pt x="0" y="95"/>
                      <a:pt x="0" y="213"/>
                    </a:cubicBezTo>
                    <a:cubicBezTo>
                      <a:pt x="118" y="213"/>
                      <a:pt x="213" y="308"/>
                      <a:pt x="213" y="42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1" i="0" sz="1500" u="none" cap="none" strike="noStrike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18" name="Google Shape;518;p6"/>
              <p:cNvSpPr txBox="1"/>
              <p:nvPr/>
            </p:nvSpPr>
            <p:spPr>
              <a:xfrm>
                <a:off x="6439944" y="2472858"/>
                <a:ext cx="875960" cy="455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分析</a:t>
                </a:r>
                <a:endParaRPr b="1" i="0" sz="1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519" name="Google Shape;519;p6"/>
            <p:cNvGrpSpPr/>
            <p:nvPr/>
          </p:nvGrpSpPr>
          <p:grpSpPr>
            <a:xfrm>
              <a:off x="4392189" y="3008849"/>
              <a:ext cx="2267515" cy="2267515"/>
              <a:chOff x="4392189" y="2858947"/>
              <a:chExt cx="2267515" cy="2267515"/>
            </a:xfrm>
          </p:grpSpPr>
          <p:sp>
            <p:nvSpPr>
              <p:cNvPr id="520" name="Google Shape;520;p6"/>
              <p:cNvSpPr/>
              <p:nvPr/>
            </p:nvSpPr>
            <p:spPr>
              <a:xfrm rot="2700000">
                <a:off x="4724259" y="3191017"/>
                <a:ext cx="1603375" cy="1603375"/>
              </a:xfrm>
              <a:custGeom>
                <a:rect b="b" l="l" r="r" t="t"/>
                <a:pathLst>
                  <a:path extrusionOk="0" h="426" w="426">
                    <a:moveTo>
                      <a:pt x="213" y="0"/>
                    </a:moveTo>
                    <a:cubicBezTo>
                      <a:pt x="213" y="117"/>
                      <a:pt x="118" y="213"/>
                      <a:pt x="0" y="213"/>
                    </a:cubicBezTo>
                    <a:cubicBezTo>
                      <a:pt x="0" y="213"/>
                      <a:pt x="0" y="213"/>
                      <a:pt x="0" y="213"/>
                    </a:cubicBezTo>
                    <a:cubicBezTo>
                      <a:pt x="0" y="213"/>
                      <a:pt x="0" y="213"/>
                      <a:pt x="0" y="213"/>
                    </a:cubicBezTo>
                    <a:cubicBezTo>
                      <a:pt x="0" y="330"/>
                      <a:pt x="95" y="426"/>
                      <a:pt x="213" y="426"/>
                    </a:cubicBezTo>
                    <a:cubicBezTo>
                      <a:pt x="331" y="426"/>
                      <a:pt x="426" y="330"/>
                      <a:pt x="426" y="213"/>
                    </a:cubicBezTo>
                    <a:cubicBezTo>
                      <a:pt x="308" y="213"/>
                      <a:pt x="213" y="117"/>
                      <a:pt x="2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1" i="0" sz="1500" u="none" cap="none" strike="noStrike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21" name="Google Shape;521;p6"/>
              <p:cNvSpPr txBox="1"/>
              <p:nvPr/>
            </p:nvSpPr>
            <p:spPr>
              <a:xfrm>
                <a:off x="4974543" y="3870373"/>
                <a:ext cx="889374" cy="455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判斷</a:t>
                </a:r>
                <a:endParaRPr b="1" i="0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522" name="Google Shape;522;p6"/>
            <p:cNvGrpSpPr/>
            <p:nvPr/>
          </p:nvGrpSpPr>
          <p:grpSpPr>
            <a:xfrm>
              <a:off x="5525946" y="3008849"/>
              <a:ext cx="2267515" cy="2267515"/>
              <a:chOff x="5525946" y="2858947"/>
              <a:chExt cx="2267515" cy="2267515"/>
            </a:xfrm>
          </p:grpSpPr>
          <p:sp>
            <p:nvSpPr>
              <p:cNvPr id="523" name="Google Shape;523;p6"/>
              <p:cNvSpPr/>
              <p:nvPr/>
            </p:nvSpPr>
            <p:spPr>
              <a:xfrm rot="2700000">
                <a:off x="5858016" y="3191017"/>
                <a:ext cx="1603375" cy="1603375"/>
              </a:xfrm>
              <a:custGeom>
                <a:rect b="b" l="l" r="r" t="t"/>
                <a:pathLst>
                  <a:path extrusionOk="0" h="426" w="426">
                    <a:moveTo>
                      <a:pt x="213" y="0"/>
                    </a:moveTo>
                    <a:cubicBezTo>
                      <a:pt x="213" y="117"/>
                      <a:pt x="118" y="213"/>
                      <a:pt x="0" y="213"/>
                    </a:cubicBezTo>
                    <a:cubicBezTo>
                      <a:pt x="118" y="213"/>
                      <a:pt x="213" y="308"/>
                      <a:pt x="213" y="426"/>
                    </a:cubicBezTo>
                    <a:cubicBezTo>
                      <a:pt x="331" y="426"/>
                      <a:pt x="426" y="330"/>
                      <a:pt x="426" y="213"/>
                    </a:cubicBezTo>
                    <a:cubicBezTo>
                      <a:pt x="426" y="95"/>
                      <a:pt x="331" y="0"/>
                      <a:pt x="2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1" i="0" sz="1500" u="none" cap="none" strike="noStrike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24" name="Google Shape;524;p6"/>
              <p:cNvSpPr txBox="1"/>
              <p:nvPr/>
            </p:nvSpPr>
            <p:spPr>
              <a:xfrm>
                <a:off x="6510064" y="3820896"/>
                <a:ext cx="934458" cy="455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輸出</a:t>
                </a:r>
                <a:endParaRPr b="1" i="0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525" name="Google Shape;525;p6"/>
          <p:cNvSpPr txBox="1"/>
          <p:nvPr/>
        </p:nvSpPr>
        <p:spPr>
          <a:xfrm>
            <a:off x="583853" y="1764966"/>
            <a:ext cx="2225491" cy="583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自動擷取商品資料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6"/>
          <p:cNvSpPr txBox="1"/>
          <p:nvPr/>
        </p:nvSpPr>
        <p:spPr>
          <a:xfrm flipH="1">
            <a:off x="6470958" y="1799098"/>
            <a:ext cx="2422624" cy="41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分析共通特徵與價值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"/>
          <p:cNvSpPr txBox="1"/>
          <p:nvPr/>
        </p:nvSpPr>
        <p:spPr>
          <a:xfrm>
            <a:off x="292712" y="3404958"/>
            <a:ext cx="2703601" cy="302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分析語意，調整權重，並計算最佳解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"/>
          <p:cNvSpPr txBox="1"/>
          <p:nvPr/>
        </p:nvSpPr>
        <p:spPr>
          <a:xfrm flipH="1">
            <a:off x="6470958" y="3404957"/>
            <a:ext cx="2337518" cy="302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輸出最佳解，提升決策效率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"/>
          <p:cNvSpPr txBox="1"/>
          <p:nvPr/>
        </p:nvSpPr>
        <p:spPr>
          <a:xfrm>
            <a:off x="148132" y="427538"/>
            <a:ext cx="3474396" cy="4000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Conclusion研究成果</a:t>
            </a:r>
            <a:endParaRPr b="1" i="0" sz="2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2"/>
          <p:cNvSpPr txBox="1"/>
          <p:nvPr/>
        </p:nvSpPr>
        <p:spPr>
          <a:xfrm>
            <a:off x="5256481" y="1690509"/>
            <a:ext cx="3325025" cy="538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整合個人偏好分析（偏重效能或外觀）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78755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12"/>
          <p:cNvSpPr txBox="1"/>
          <p:nvPr/>
        </p:nvSpPr>
        <p:spPr>
          <a:xfrm>
            <a:off x="4741882" y="2943348"/>
            <a:ext cx="3382685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擴增至跨國網站與多語言比較，並學習常見比較商品資訊，資料整合後，給予更好的建議。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78755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12"/>
          <p:cNvSpPr txBox="1"/>
          <p:nvPr/>
        </p:nvSpPr>
        <p:spPr>
          <a:xfrm>
            <a:off x="3399708" y="4086145"/>
            <a:ext cx="4805848" cy="538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App化應用於行動裝置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78755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4004711" y="1303755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個人化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3477074" y="2617597"/>
            <a:ext cx="1080000" cy="10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分析強化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2212266" y="3648224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行動裝置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3538856" y="1946795"/>
            <a:ext cx="294085" cy="294084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4566365" y="2625452"/>
            <a:ext cx="209550" cy="20955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1805306" y="4261371"/>
            <a:ext cx="188119" cy="188119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44" name="Google Shape;544;p12"/>
          <p:cNvGrpSpPr/>
          <p:nvPr/>
        </p:nvGrpSpPr>
        <p:grpSpPr>
          <a:xfrm>
            <a:off x="1213566" y="1525315"/>
            <a:ext cx="1858565" cy="1858565"/>
            <a:chOff x="1618087" y="2033753"/>
            <a:chExt cx="2478087" cy="2478087"/>
          </a:xfrm>
        </p:grpSpPr>
        <p:sp>
          <p:nvSpPr>
            <p:cNvPr id="545" name="Google Shape;545;p12"/>
            <p:cNvSpPr/>
            <p:nvPr/>
          </p:nvSpPr>
          <p:spPr>
            <a:xfrm>
              <a:off x="1618087" y="2033753"/>
              <a:ext cx="2478087" cy="24780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77800" rotWithShape="0" algn="tr" dir="9000000" dist="88900">
                <a:srgbClr val="A5A5A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6" name="Google Shape;546;p12"/>
            <p:cNvSpPr/>
            <p:nvPr/>
          </p:nvSpPr>
          <p:spPr>
            <a:xfrm>
              <a:off x="1855942" y="2271111"/>
              <a:ext cx="2002604" cy="200260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p12"/>
          <p:cNvSpPr/>
          <p:nvPr/>
        </p:nvSpPr>
        <p:spPr>
          <a:xfrm>
            <a:off x="951628" y="2300412"/>
            <a:ext cx="188119" cy="188119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958772" y="1756296"/>
            <a:ext cx="254794" cy="254794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3041174" y="2943348"/>
            <a:ext cx="210741" cy="210741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2875678" y="1461021"/>
            <a:ext cx="196453" cy="196453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12"/>
          <p:cNvSpPr txBox="1"/>
          <p:nvPr/>
        </p:nvSpPr>
        <p:spPr>
          <a:xfrm>
            <a:off x="-1027" y="352718"/>
            <a:ext cx="3988904" cy="4000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Conclusion未來工作 </a:t>
            </a:r>
            <a:endParaRPr b="1" i="0" sz="20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1618509" y="1914309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4"/>
          <p:cNvSpPr txBox="1"/>
          <p:nvPr/>
        </p:nvSpPr>
        <p:spPr>
          <a:xfrm>
            <a:off x="4191000" y="1403575"/>
            <a:ext cx="4913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THANKS</a:t>
            </a:r>
            <a:endParaRPr b="1" i="0" sz="8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44"/>
          <p:cNvSpPr txBox="1"/>
          <p:nvPr/>
        </p:nvSpPr>
        <p:spPr>
          <a:xfrm>
            <a:off x="4190999" y="895350"/>
            <a:ext cx="1619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p44"/>
          <p:cNvGrpSpPr/>
          <p:nvPr/>
        </p:nvGrpSpPr>
        <p:grpSpPr>
          <a:xfrm>
            <a:off x="-58652" y="-27977"/>
            <a:ext cx="4094531" cy="5171477"/>
            <a:chOff x="-58652" y="-27977"/>
            <a:chExt cx="4596214" cy="5171477"/>
          </a:xfrm>
        </p:grpSpPr>
        <p:sp>
          <p:nvSpPr>
            <p:cNvPr id="561" name="Google Shape;561;p44"/>
            <p:cNvSpPr/>
            <p:nvPr/>
          </p:nvSpPr>
          <p:spPr>
            <a:xfrm>
              <a:off x="267904" y="-25298"/>
              <a:ext cx="4269658" cy="516879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2" name="Google Shape;562;p44"/>
            <p:cNvSpPr/>
            <p:nvPr/>
          </p:nvSpPr>
          <p:spPr>
            <a:xfrm>
              <a:off x="-58652" y="-27977"/>
              <a:ext cx="4269658" cy="5171477"/>
            </a:xfrm>
            <a:custGeom>
              <a:rect b="b" l="l" r="r" t="t"/>
              <a:pathLst>
                <a:path extrusionOk="0" h="6858000" w="5692877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63" name="Google Shape;563;p44"/>
          <p:cNvPicPr preferRelativeResize="0"/>
          <p:nvPr/>
        </p:nvPicPr>
        <p:blipFill rotWithShape="1">
          <a:blip r:embed="rId3">
            <a:alphaModFix/>
          </a:blip>
          <a:srcRect b="0" l="0" r="11712" t="0"/>
          <a:stretch/>
        </p:blipFill>
        <p:spPr>
          <a:xfrm flipH="1">
            <a:off x="5257800" y="2856986"/>
            <a:ext cx="3113814" cy="192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-691383" y="977133"/>
            <a:ext cx="3924215" cy="299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3000"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自定义 45">
      <a:dk1>
        <a:srgbClr val="000000"/>
      </a:dk1>
      <a:lt1>
        <a:srgbClr val="FFFFFF"/>
      </a:lt1>
      <a:dk2>
        <a:srgbClr val="3E3D2D"/>
      </a:dk2>
      <a:lt2>
        <a:srgbClr val="FFFFFF"/>
      </a:lt2>
      <a:accent1>
        <a:srgbClr val="394B51"/>
      </a:accent1>
      <a:accent2>
        <a:srgbClr val="7FA99B"/>
      </a:accent2>
      <a:accent3>
        <a:srgbClr val="394B51"/>
      </a:accent3>
      <a:accent4>
        <a:srgbClr val="7FA99B"/>
      </a:accent4>
      <a:accent5>
        <a:srgbClr val="394B51"/>
      </a:accent5>
      <a:accent6>
        <a:srgbClr val="A4CCBF"/>
      </a:accent6>
      <a:hlink>
        <a:srgbClr val="394B51"/>
      </a:hlink>
      <a:folHlink>
        <a:srgbClr val="7FA9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2019-03-15T03:03:38Z</dcterms:created>
</cp:coreProperties>
</file>